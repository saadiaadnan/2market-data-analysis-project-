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0.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1.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notesMasterIdLst>
    <p:notesMasterId r:id="rId18"/>
  </p:notesMasterIdLst>
  <p:sldIdLst>
    <p:sldId id="256" r:id="rId2"/>
    <p:sldId id="265" r:id="rId3"/>
    <p:sldId id="258" r:id="rId4"/>
    <p:sldId id="268" r:id="rId5"/>
    <p:sldId id="266" r:id="rId6"/>
    <p:sldId id="267" r:id="rId7"/>
    <p:sldId id="269" r:id="rId8"/>
    <p:sldId id="270" r:id="rId9"/>
    <p:sldId id="260" r:id="rId10"/>
    <p:sldId id="262" r:id="rId11"/>
    <p:sldId id="261" r:id="rId12"/>
    <p:sldId id="264" r:id="rId13"/>
    <p:sldId id="271" r:id="rId14"/>
    <p:sldId id="272" r:id="rId15"/>
    <p:sldId id="273" r:id="rId16"/>
    <p:sldId id="27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79345" autoAdjust="0"/>
  </p:normalViewPr>
  <p:slideViewPr>
    <p:cSldViewPr snapToGrid="0">
      <p:cViewPr varScale="1">
        <p:scale>
          <a:sx n="50" d="100"/>
          <a:sy n="50" d="100"/>
        </p:scale>
        <p:origin x="128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Chart%20in%20Microsoft%20PowerPoint"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dLbls>
          <c:showLegendKey val="0"/>
          <c:showVal val="0"/>
          <c:showCatName val="0"/>
          <c:showSerName val="0"/>
          <c:showPercent val="0"/>
          <c:showBubbleSize val="0"/>
        </c:dLbls>
        <c:gapWidth val="219"/>
        <c:overlap val="-27"/>
        <c:axId val="799866399"/>
        <c:axId val="799867359"/>
      </c:barChart>
      <c:catAx>
        <c:axId val="79986639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99867359"/>
        <c:crosses val="autoZero"/>
        <c:auto val="1"/>
        <c:lblAlgn val="ctr"/>
        <c:lblOffset val="100"/>
        <c:noMultiLvlLbl val="0"/>
      </c:catAx>
      <c:valAx>
        <c:axId val="79986735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9986639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2"/>
                </a:solidFill>
                <a:latin typeface="+mn-lt"/>
                <a:ea typeface="+mn-ea"/>
                <a:cs typeface="+mn-cs"/>
              </a:defRPr>
            </a:pPr>
            <a:r>
              <a:rPr lang="en-GB" sz="1600" b="1" i="0" u="none" strike="noStrike" kern="1200" baseline="0" dirty="0">
                <a:solidFill>
                  <a:srgbClr val="0E2841"/>
                </a:solidFill>
              </a:rPr>
              <a:t>Platform effectiveness per marital status</a:t>
            </a:r>
            <a:endParaRPr lang="en-GB"/>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2"/>
              </a:solidFill>
              <a:latin typeface="+mn-lt"/>
              <a:ea typeface="+mn-ea"/>
              <a:cs typeface="+mn-cs"/>
            </a:defRPr>
          </a:pPr>
          <a:endParaRPr lang="en-GB"/>
        </a:p>
      </c:txPr>
    </c:title>
    <c:autoTitleDeleted val="0"/>
    <c:plotArea>
      <c:layout/>
      <c:barChart>
        <c:barDir val="bar"/>
        <c:grouping val="clustered"/>
        <c:varyColors val="0"/>
        <c:ser>
          <c:idx val="0"/>
          <c:order val="0"/>
          <c:tx>
            <c:strRef>
              <c:f>Sheet1!$A$2</c:f>
              <c:strCache>
                <c:ptCount val="1"/>
                <c:pt idx="0">
                  <c:v>Married</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Sheet1!$B$1</c:f>
              <c:strCache>
                <c:ptCount val="1"/>
                <c:pt idx="0">
                  <c:v>Total Exposure</c:v>
                </c:pt>
              </c:strCache>
            </c:strRef>
          </c:cat>
          <c:val>
            <c:numRef>
              <c:f>Sheet1!$B$2</c:f>
              <c:numCache>
                <c:formatCode>General</c:formatCode>
                <c:ptCount val="1"/>
                <c:pt idx="0">
                  <c:v>190</c:v>
                </c:pt>
              </c:numCache>
            </c:numRef>
          </c:val>
          <c:extLst>
            <c:ext xmlns:c16="http://schemas.microsoft.com/office/drawing/2014/chart" uri="{C3380CC4-5D6E-409C-BE32-E72D297353CC}">
              <c16:uniqueId val="{00000000-3D3D-4D77-882E-4D69F665002B}"/>
            </c:ext>
          </c:extLst>
        </c:ser>
        <c:ser>
          <c:idx val="1"/>
          <c:order val="1"/>
          <c:tx>
            <c:strRef>
              <c:f>Sheet1!$A$3</c:f>
              <c:strCache>
                <c:ptCount val="1"/>
                <c:pt idx="0">
                  <c:v>Together</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Sheet1!$B$1</c:f>
              <c:strCache>
                <c:ptCount val="1"/>
                <c:pt idx="0">
                  <c:v>Total Exposure</c:v>
                </c:pt>
              </c:strCache>
            </c:strRef>
          </c:cat>
          <c:val>
            <c:numRef>
              <c:f>Sheet1!$B$3</c:f>
              <c:numCache>
                <c:formatCode>General</c:formatCode>
                <c:ptCount val="1"/>
                <c:pt idx="0">
                  <c:v>117</c:v>
                </c:pt>
              </c:numCache>
            </c:numRef>
          </c:val>
          <c:extLst>
            <c:ext xmlns:c16="http://schemas.microsoft.com/office/drawing/2014/chart" uri="{C3380CC4-5D6E-409C-BE32-E72D297353CC}">
              <c16:uniqueId val="{00000001-3D3D-4D77-882E-4D69F665002B}"/>
            </c:ext>
          </c:extLst>
        </c:ser>
        <c:ser>
          <c:idx val="2"/>
          <c:order val="2"/>
          <c:tx>
            <c:strRef>
              <c:f>Sheet1!$A$4</c:f>
              <c:strCache>
                <c:ptCount val="1"/>
                <c:pt idx="0">
                  <c:v>Single</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Sheet1!$B$1</c:f>
              <c:strCache>
                <c:ptCount val="1"/>
                <c:pt idx="0">
                  <c:v>Total Exposure</c:v>
                </c:pt>
              </c:strCache>
            </c:strRef>
          </c:cat>
          <c:val>
            <c:numRef>
              <c:f>Sheet1!$B$4</c:f>
              <c:numCache>
                <c:formatCode>General</c:formatCode>
                <c:ptCount val="1"/>
                <c:pt idx="0">
                  <c:v>93</c:v>
                </c:pt>
              </c:numCache>
            </c:numRef>
          </c:val>
          <c:extLst>
            <c:ext xmlns:c16="http://schemas.microsoft.com/office/drawing/2014/chart" uri="{C3380CC4-5D6E-409C-BE32-E72D297353CC}">
              <c16:uniqueId val="{00000002-3D3D-4D77-882E-4D69F665002B}"/>
            </c:ext>
          </c:extLst>
        </c:ser>
        <c:ser>
          <c:idx val="3"/>
          <c:order val="3"/>
          <c:tx>
            <c:strRef>
              <c:f>Sheet1!$A$5</c:f>
              <c:strCache>
                <c:ptCount val="1"/>
                <c:pt idx="0">
                  <c:v>Divorced</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Sheet1!$B$1</c:f>
              <c:strCache>
                <c:ptCount val="1"/>
                <c:pt idx="0">
                  <c:v>Total Exposure</c:v>
                </c:pt>
              </c:strCache>
            </c:strRef>
          </c:cat>
          <c:val>
            <c:numRef>
              <c:f>Sheet1!$B$5</c:f>
              <c:numCache>
                <c:formatCode>General</c:formatCode>
                <c:ptCount val="1"/>
                <c:pt idx="0">
                  <c:v>43</c:v>
                </c:pt>
              </c:numCache>
            </c:numRef>
          </c:val>
          <c:extLst>
            <c:ext xmlns:c16="http://schemas.microsoft.com/office/drawing/2014/chart" uri="{C3380CC4-5D6E-409C-BE32-E72D297353CC}">
              <c16:uniqueId val="{00000003-3D3D-4D77-882E-4D69F665002B}"/>
            </c:ext>
          </c:extLst>
        </c:ser>
        <c:ser>
          <c:idx val="4"/>
          <c:order val="4"/>
          <c:tx>
            <c:strRef>
              <c:f>Sheet1!$A$6</c:f>
              <c:strCache>
                <c:ptCount val="1"/>
                <c:pt idx="0">
                  <c:v>Widow</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Sheet1!$B$1</c:f>
              <c:strCache>
                <c:ptCount val="1"/>
                <c:pt idx="0">
                  <c:v>Total Exposure</c:v>
                </c:pt>
              </c:strCache>
            </c:strRef>
          </c:cat>
          <c:val>
            <c:numRef>
              <c:f>Sheet1!$B$6</c:f>
              <c:numCache>
                <c:formatCode>General</c:formatCode>
                <c:ptCount val="1"/>
                <c:pt idx="0">
                  <c:v>24</c:v>
                </c:pt>
              </c:numCache>
            </c:numRef>
          </c:val>
          <c:extLst>
            <c:ext xmlns:c16="http://schemas.microsoft.com/office/drawing/2014/chart" uri="{C3380CC4-5D6E-409C-BE32-E72D297353CC}">
              <c16:uniqueId val="{00000004-3D3D-4D77-882E-4D69F665002B}"/>
            </c:ext>
          </c:extLst>
        </c:ser>
        <c:ser>
          <c:idx val="5"/>
          <c:order val="5"/>
          <c:tx>
            <c:strRef>
              <c:f>Sheet1!$A$7</c:f>
              <c:strCache>
                <c:ptCount val="1"/>
                <c:pt idx="0">
                  <c:v>Unknown</c:v>
                </c:pt>
              </c:strCache>
            </c:strRef>
          </c:tx>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Sheet1!$B$1</c:f>
              <c:strCache>
                <c:ptCount val="1"/>
                <c:pt idx="0">
                  <c:v>Total Exposure</c:v>
                </c:pt>
              </c:strCache>
            </c:strRef>
          </c:cat>
          <c:val>
            <c:numRef>
              <c:f>Sheet1!$B$7</c:f>
              <c:numCache>
                <c:formatCode>General</c:formatCode>
                <c:ptCount val="1"/>
                <c:pt idx="0">
                  <c:v>2</c:v>
                </c:pt>
              </c:numCache>
            </c:numRef>
          </c:val>
          <c:extLst>
            <c:ext xmlns:c16="http://schemas.microsoft.com/office/drawing/2014/chart" uri="{C3380CC4-5D6E-409C-BE32-E72D297353CC}">
              <c16:uniqueId val="{00000005-3D3D-4D77-882E-4D69F665002B}"/>
            </c:ext>
          </c:extLst>
        </c:ser>
        <c:dLbls>
          <c:dLblPos val="inEnd"/>
          <c:showLegendKey val="0"/>
          <c:showVal val="1"/>
          <c:showCatName val="0"/>
          <c:showSerName val="0"/>
          <c:showPercent val="0"/>
          <c:showBubbleSize val="0"/>
        </c:dLbls>
        <c:gapWidth val="100"/>
        <c:axId val="1238786543"/>
        <c:axId val="1238786063"/>
      </c:barChart>
      <c:catAx>
        <c:axId val="1238786543"/>
        <c:scaling>
          <c:orientation val="minMax"/>
        </c:scaling>
        <c:delete val="0"/>
        <c:axPos val="l"/>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1238786063"/>
        <c:crosses val="autoZero"/>
        <c:auto val="1"/>
        <c:lblAlgn val="ctr"/>
        <c:lblOffset val="100"/>
        <c:noMultiLvlLbl val="0"/>
      </c:catAx>
      <c:valAx>
        <c:axId val="1238786063"/>
        <c:scaling>
          <c:orientation val="minMax"/>
        </c:scaling>
        <c:delete val="0"/>
        <c:axPos val="b"/>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123878654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sz="1400" b="1" i="0" u="none" strike="noStrike" kern="1200" spc="0" baseline="0" dirty="0">
                <a:solidFill>
                  <a:sysClr val="windowText" lastClr="000000">
                    <a:lumMod val="65000"/>
                    <a:lumOff val="35000"/>
                  </a:sysClr>
                </a:solidFill>
              </a:rPr>
              <a:t>Platform effectiveness per country</a:t>
            </a:r>
            <a:endParaRPr lang="en-GB" b="1"/>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GB"/>
        </a:p>
      </c:txPr>
    </c:title>
    <c:autoTitleDeleted val="0"/>
    <c:plotArea>
      <c:layout/>
      <c:barChart>
        <c:barDir val="col"/>
        <c:grouping val="clustered"/>
        <c:varyColors val="0"/>
        <c:ser>
          <c:idx val="0"/>
          <c:order val="0"/>
          <c:tx>
            <c:strRef>
              <c:f>Sheet1!$C$12</c:f>
              <c:strCache>
                <c:ptCount val="1"/>
                <c:pt idx="0">
                  <c:v>Twitter Total</c:v>
                </c:pt>
              </c:strCache>
            </c:strRef>
          </c:tx>
          <c:spPr>
            <a:solidFill>
              <a:schemeClr val="accent1"/>
            </a:solidFill>
            <a:ln>
              <a:noFill/>
            </a:ln>
            <a:effectLst/>
          </c:spPr>
          <c:invertIfNegative val="0"/>
          <c:cat>
            <c:strRef>
              <c:f>Sheet1!$A$13:$A$20</c:f>
              <c:strCache>
                <c:ptCount val="8"/>
                <c:pt idx="0">
                  <c:v>SP</c:v>
                </c:pt>
                <c:pt idx="1">
                  <c:v>SA</c:v>
                </c:pt>
                <c:pt idx="2">
                  <c:v>CA</c:v>
                </c:pt>
                <c:pt idx="3">
                  <c:v>AUS</c:v>
                </c:pt>
                <c:pt idx="4">
                  <c:v>IND</c:v>
                </c:pt>
                <c:pt idx="5">
                  <c:v>GER</c:v>
                </c:pt>
                <c:pt idx="6">
                  <c:v>US</c:v>
                </c:pt>
                <c:pt idx="7">
                  <c:v>ME</c:v>
                </c:pt>
              </c:strCache>
            </c:strRef>
          </c:cat>
          <c:val>
            <c:numRef>
              <c:f>Sheet1!$C$13:$C$20</c:f>
              <c:numCache>
                <c:formatCode>General</c:formatCode>
                <c:ptCount val="8"/>
                <c:pt idx="0">
                  <c:v>87</c:v>
                </c:pt>
                <c:pt idx="1">
                  <c:v>20</c:v>
                </c:pt>
                <c:pt idx="2">
                  <c:v>24</c:v>
                </c:pt>
                <c:pt idx="3">
                  <c:v>6</c:v>
                </c:pt>
                <c:pt idx="4">
                  <c:v>10</c:v>
                </c:pt>
                <c:pt idx="5">
                  <c:v>11</c:v>
                </c:pt>
                <c:pt idx="6">
                  <c:v>6</c:v>
                </c:pt>
                <c:pt idx="7">
                  <c:v>0</c:v>
                </c:pt>
              </c:numCache>
            </c:numRef>
          </c:val>
          <c:extLst>
            <c:ext xmlns:c16="http://schemas.microsoft.com/office/drawing/2014/chart" uri="{C3380CC4-5D6E-409C-BE32-E72D297353CC}">
              <c16:uniqueId val="{00000000-135C-4879-ABEB-45D696B34BC6}"/>
            </c:ext>
          </c:extLst>
        </c:ser>
        <c:ser>
          <c:idx val="1"/>
          <c:order val="1"/>
          <c:tx>
            <c:strRef>
              <c:f>Sheet1!$D$12</c:f>
              <c:strCache>
                <c:ptCount val="1"/>
                <c:pt idx="0">
                  <c:v>Instagram Total</c:v>
                </c:pt>
              </c:strCache>
            </c:strRef>
          </c:tx>
          <c:spPr>
            <a:solidFill>
              <a:schemeClr val="accent2"/>
            </a:solidFill>
            <a:ln>
              <a:noFill/>
            </a:ln>
            <a:effectLst/>
          </c:spPr>
          <c:invertIfNegative val="0"/>
          <c:cat>
            <c:strRef>
              <c:f>Sheet1!$A$13:$A$20</c:f>
              <c:strCache>
                <c:ptCount val="8"/>
                <c:pt idx="0">
                  <c:v>SP</c:v>
                </c:pt>
                <c:pt idx="1">
                  <c:v>SA</c:v>
                </c:pt>
                <c:pt idx="2">
                  <c:v>CA</c:v>
                </c:pt>
                <c:pt idx="3">
                  <c:v>AUS</c:v>
                </c:pt>
                <c:pt idx="4">
                  <c:v>IND</c:v>
                </c:pt>
                <c:pt idx="5">
                  <c:v>GER</c:v>
                </c:pt>
                <c:pt idx="6">
                  <c:v>US</c:v>
                </c:pt>
                <c:pt idx="7">
                  <c:v>ME</c:v>
                </c:pt>
              </c:strCache>
            </c:strRef>
          </c:cat>
          <c:val>
            <c:numRef>
              <c:f>Sheet1!$D$13:$D$20</c:f>
              <c:numCache>
                <c:formatCode>General</c:formatCode>
                <c:ptCount val="8"/>
                <c:pt idx="0">
                  <c:v>88</c:v>
                </c:pt>
                <c:pt idx="1">
                  <c:v>21</c:v>
                </c:pt>
                <c:pt idx="2">
                  <c:v>21</c:v>
                </c:pt>
                <c:pt idx="3">
                  <c:v>12</c:v>
                </c:pt>
                <c:pt idx="4">
                  <c:v>6</c:v>
                </c:pt>
                <c:pt idx="5">
                  <c:v>8</c:v>
                </c:pt>
                <c:pt idx="6">
                  <c:v>5</c:v>
                </c:pt>
                <c:pt idx="7">
                  <c:v>0</c:v>
                </c:pt>
              </c:numCache>
            </c:numRef>
          </c:val>
          <c:extLst>
            <c:ext xmlns:c16="http://schemas.microsoft.com/office/drawing/2014/chart" uri="{C3380CC4-5D6E-409C-BE32-E72D297353CC}">
              <c16:uniqueId val="{00000001-135C-4879-ABEB-45D696B34BC6}"/>
            </c:ext>
          </c:extLst>
        </c:ser>
        <c:ser>
          <c:idx val="2"/>
          <c:order val="2"/>
          <c:tx>
            <c:strRef>
              <c:f>Sheet1!$E$12</c:f>
              <c:strCache>
                <c:ptCount val="1"/>
                <c:pt idx="0">
                  <c:v>Facebook Total</c:v>
                </c:pt>
              </c:strCache>
            </c:strRef>
          </c:tx>
          <c:spPr>
            <a:solidFill>
              <a:schemeClr val="accent3"/>
            </a:solidFill>
            <a:ln>
              <a:noFill/>
            </a:ln>
            <a:effectLst/>
          </c:spPr>
          <c:invertIfNegative val="0"/>
          <c:cat>
            <c:strRef>
              <c:f>Sheet1!$A$13:$A$20</c:f>
              <c:strCache>
                <c:ptCount val="8"/>
                <c:pt idx="0">
                  <c:v>SP</c:v>
                </c:pt>
                <c:pt idx="1">
                  <c:v>SA</c:v>
                </c:pt>
                <c:pt idx="2">
                  <c:v>CA</c:v>
                </c:pt>
                <c:pt idx="3">
                  <c:v>AUS</c:v>
                </c:pt>
                <c:pt idx="4">
                  <c:v>IND</c:v>
                </c:pt>
                <c:pt idx="5">
                  <c:v>GER</c:v>
                </c:pt>
                <c:pt idx="6">
                  <c:v>US</c:v>
                </c:pt>
                <c:pt idx="7">
                  <c:v>ME</c:v>
                </c:pt>
              </c:strCache>
            </c:strRef>
          </c:cat>
          <c:val>
            <c:numRef>
              <c:f>Sheet1!$E$13:$E$20</c:f>
              <c:numCache>
                <c:formatCode>General</c:formatCode>
                <c:ptCount val="8"/>
                <c:pt idx="0">
                  <c:v>76</c:v>
                </c:pt>
                <c:pt idx="1">
                  <c:v>20</c:v>
                </c:pt>
                <c:pt idx="2">
                  <c:v>18</c:v>
                </c:pt>
                <c:pt idx="3">
                  <c:v>7</c:v>
                </c:pt>
                <c:pt idx="4">
                  <c:v>7</c:v>
                </c:pt>
                <c:pt idx="5">
                  <c:v>7</c:v>
                </c:pt>
                <c:pt idx="6">
                  <c:v>7</c:v>
                </c:pt>
                <c:pt idx="7">
                  <c:v>0</c:v>
                </c:pt>
              </c:numCache>
            </c:numRef>
          </c:val>
          <c:extLst>
            <c:ext xmlns:c16="http://schemas.microsoft.com/office/drawing/2014/chart" uri="{C3380CC4-5D6E-409C-BE32-E72D297353CC}">
              <c16:uniqueId val="{00000002-135C-4879-ABEB-45D696B34BC6}"/>
            </c:ext>
          </c:extLst>
        </c:ser>
        <c:dLbls>
          <c:showLegendKey val="0"/>
          <c:showVal val="0"/>
          <c:showCatName val="0"/>
          <c:showSerName val="0"/>
          <c:showPercent val="0"/>
          <c:showBubbleSize val="0"/>
        </c:dLbls>
        <c:gapWidth val="219"/>
        <c:overlap val="-27"/>
        <c:axId val="1309281199"/>
        <c:axId val="1309278799"/>
      </c:barChart>
      <c:catAx>
        <c:axId val="130928119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09278799"/>
        <c:crosses val="autoZero"/>
        <c:auto val="1"/>
        <c:lblAlgn val="ctr"/>
        <c:lblOffset val="100"/>
        <c:noMultiLvlLbl val="0"/>
      </c:catAx>
      <c:valAx>
        <c:axId val="130927879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0928119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sz="1400" b="0" i="0" u="none" strike="noStrike" kern="1200" spc="0" baseline="0" dirty="0">
                <a:solidFill>
                  <a:sysClr val="windowText" lastClr="000000">
                    <a:lumMod val="65000"/>
                    <a:lumOff val="35000"/>
                  </a:sysClr>
                </a:solidFill>
              </a:rPr>
              <a:t>Platform performance vs spending per country </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Sheet1!$B$25</c:f>
              <c:strCache>
                <c:ptCount val="1"/>
                <c:pt idx="0">
                  <c:v>Total_Spent</c:v>
                </c:pt>
              </c:strCache>
            </c:strRef>
          </c:tx>
          <c:spPr>
            <a:solidFill>
              <a:schemeClr val="accent1"/>
            </a:solidFill>
            <a:ln>
              <a:noFill/>
            </a:ln>
            <a:effectLst/>
          </c:spPr>
          <c:invertIfNegative val="0"/>
          <c:cat>
            <c:strRef>
              <c:f>Sheet1!$A$26:$A$33</c:f>
              <c:strCache>
                <c:ptCount val="8"/>
                <c:pt idx="0">
                  <c:v>SP</c:v>
                </c:pt>
                <c:pt idx="1">
                  <c:v>SA</c:v>
                </c:pt>
                <c:pt idx="2">
                  <c:v>CA</c:v>
                </c:pt>
                <c:pt idx="3">
                  <c:v>AUS</c:v>
                </c:pt>
                <c:pt idx="4">
                  <c:v>IND</c:v>
                </c:pt>
                <c:pt idx="5">
                  <c:v>GER</c:v>
                </c:pt>
                <c:pt idx="6">
                  <c:v>US</c:v>
                </c:pt>
                <c:pt idx="7">
                  <c:v>ME</c:v>
                </c:pt>
              </c:strCache>
            </c:strRef>
          </c:cat>
          <c:val>
            <c:numRef>
              <c:f>Sheet1!$B$26:$B$33</c:f>
              <c:numCache>
                <c:formatCode>General</c:formatCode>
                <c:ptCount val="8"/>
                <c:pt idx="0">
                  <c:v>657704</c:v>
                </c:pt>
                <c:pt idx="1">
                  <c:v>210987</c:v>
                </c:pt>
                <c:pt idx="2">
                  <c:v>167403</c:v>
                </c:pt>
                <c:pt idx="3">
                  <c:v>85576</c:v>
                </c:pt>
                <c:pt idx="4">
                  <c:v>77741</c:v>
                </c:pt>
                <c:pt idx="5">
                  <c:v>73198</c:v>
                </c:pt>
                <c:pt idx="6">
                  <c:v>67546</c:v>
                </c:pt>
                <c:pt idx="7">
                  <c:v>3122</c:v>
                </c:pt>
              </c:numCache>
            </c:numRef>
          </c:val>
          <c:extLst>
            <c:ext xmlns:c16="http://schemas.microsoft.com/office/drawing/2014/chart" uri="{C3380CC4-5D6E-409C-BE32-E72D297353CC}">
              <c16:uniqueId val="{00000000-EC14-4A69-95EA-4C20118BCBB9}"/>
            </c:ext>
          </c:extLst>
        </c:ser>
        <c:dLbls>
          <c:showLegendKey val="0"/>
          <c:showVal val="0"/>
          <c:showCatName val="0"/>
          <c:showSerName val="0"/>
          <c:showPercent val="0"/>
          <c:showBubbleSize val="0"/>
        </c:dLbls>
        <c:gapWidth val="219"/>
        <c:overlap val="-27"/>
        <c:axId val="1238431743"/>
        <c:axId val="1238433663"/>
      </c:barChart>
      <c:catAx>
        <c:axId val="12384317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38433663"/>
        <c:crosses val="autoZero"/>
        <c:auto val="1"/>
        <c:lblAlgn val="ctr"/>
        <c:lblOffset val="100"/>
        <c:noMultiLvlLbl val="0"/>
      </c:catAx>
      <c:valAx>
        <c:axId val="123843366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3843174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0">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sv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sv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18/5/colors/Iconchunking_neutralbg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a:alpha val="0"/>
      </a:schemeClr>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7C426D4-7371-4CDB-9E0E-F764C286082D}" type="doc">
      <dgm:prSet loTypeId="urn:microsoft.com/office/officeart/2018/2/layout/IconVerticalSolidList" loCatId="icon" qsTypeId="urn:microsoft.com/office/officeart/2005/8/quickstyle/simple1" qsCatId="simple" csTypeId="urn:microsoft.com/office/officeart/2018/5/colors/Iconchunking_neutralbg_accent2_2" csCatId="accent2" phldr="1"/>
      <dgm:spPr/>
      <dgm:t>
        <a:bodyPr/>
        <a:lstStyle/>
        <a:p>
          <a:endParaRPr lang="en-US"/>
        </a:p>
      </dgm:t>
    </dgm:pt>
    <dgm:pt modelId="{330FA760-A202-4E0F-B75B-772B2AEC22FC}">
      <dgm:prSet/>
      <dgm:spPr/>
      <dgm:t>
        <a:bodyPr/>
        <a:lstStyle/>
        <a:p>
          <a:r>
            <a:rPr lang="en-GB" dirty="0"/>
            <a:t>Limited understanding of customer demographics </a:t>
          </a:r>
          <a:endParaRPr lang="en-US" dirty="0"/>
        </a:p>
      </dgm:t>
    </dgm:pt>
    <dgm:pt modelId="{B943FE32-2BF0-42A6-9FF5-E0105E7906E7}" type="parTrans" cxnId="{EF7F0AB3-25C7-4BF6-84F7-5AD762D9B9F7}">
      <dgm:prSet/>
      <dgm:spPr/>
      <dgm:t>
        <a:bodyPr/>
        <a:lstStyle/>
        <a:p>
          <a:endParaRPr lang="en-US"/>
        </a:p>
      </dgm:t>
    </dgm:pt>
    <dgm:pt modelId="{5D10651C-DD68-4992-83CE-931B369185D5}" type="sibTrans" cxnId="{EF7F0AB3-25C7-4BF6-84F7-5AD762D9B9F7}">
      <dgm:prSet/>
      <dgm:spPr/>
      <dgm:t>
        <a:bodyPr/>
        <a:lstStyle/>
        <a:p>
          <a:endParaRPr lang="en-US"/>
        </a:p>
      </dgm:t>
    </dgm:pt>
    <dgm:pt modelId="{96B131C8-53BA-411E-8627-EE1B15191872}">
      <dgm:prSet/>
      <dgm:spPr/>
      <dgm:t>
        <a:bodyPr/>
        <a:lstStyle/>
        <a:p>
          <a:r>
            <a:rPr lang="en-GB" dirty="0"/>
            <a:t>Unclear advertising channel effectiveness</a:t>
          </a:r>
          <a:endParaRPr lang="en-US" dirty="0"/>
        </a:p>
      </dgm:t>
    </dgm:pt>
    <dgm:pt modelId="{9B8FEB24-7951-497A-AABF-B63F5DEF531E}" type="parTrans" cxnId="{AF6894C1-311C-48F5-951F-3F4DCE09BC5F}">
      <dgm:prSet/>
      <dgm:spPr/>
      <dgm:t>
        <a:bodyPr/>
        <a:lstStyle/>
        <a:p>
          <a:endParaRPr lang="en-US"/>
        </a:p>
      </dgm:t>
    </dgm:pt>
    <dgm:pt modelId="{44FCBC86-3B3D-436B-8F0B-138FFDD6B648}" type="sibTrans" cxnId="{AF6894C1-311C-48F5-951F-3F4DCE09BC5F}">
      <dgm:prSet/>
      <dgm:spPr/>
      <dgm:t>
        <a:bodyPr/>
        <a:lstStyle/>
        <a:p>
          <a:endParaRPr lang="en-US"/>
        </a:p>
      </dgm:t>
    </dgm:pt>
    <dgm:pt modelId="{7FAF3B88-9C6A-4F3E-A762-0D22117C2774}">
      <dgm:prSet/>
      <dgm:spPr/>
      <dgm:t>
        <a:bodyPr/>
        <a:lstStyle/>
        <a:p>
          <a:r>
            <a:rPr lang="en-GB" dirty="0"/>
            <a:t>Need for targeted marketing &amp; optimal spend </a:t>
          </a:r>
          <a:endParaRPr lang="en-US" dirty="0"/>
        </a:p>
      </dgm:t>
    </dgm:pt>
    <dgm:pt modelId="{1E5053C0-F58A-4BBA-82BC-BC59AF02E864}" type="parTrans" cxnId="{DB172ABA-E8B5-442B-9FA4-8F1F827BA0F6}">
      <dgm:prSet/>
      <dgm:spPr/>
      <dgm:t>
        <a:bodyPr/>
        <a:lstStyle/>
        <a:p>
          <a:endParaRPr lang="en-US"/>
        </a:p>
      </dgm:t>
    </dgm:pt>
    <dgm:pt modelId="{47FD802E-C8C0-4068-AA74-3F18183D5FB3}" type="sibTrans" cxnId="{DB172ABA-E8B5-442B-9FA4-8F1F827BA0F6}">
      <dgm:prSet/>
      <dgm:spPr/>
      <dgm:t>
        <a:bodyPr/>
        <a:lstStyle/>
        <a:p>
          <a:endParaRPr lang="en-US"/>
        </a:p>
      </dgm:t>
    </dgm:pt>
    <dgm:pt modelId="{2F875011-A034-4A56-812C-F2B610032064}">
      <dgm:prSet/>
      <dgm:spPr/>
      <dgm:t>
        <a:bodyPr/>
        <a:lstStyle/>
        <a:p>
          <a:r>
            <a:rPr lang="en-GB" dirty="0"/>
            <a:t>Objective: enable evidence-based decisions.</a:t>
          </a:r>
          <a:endParaRPr lang="en-US" dirty="0"/>
        </a:p>
      </dgm:t>
    </dgm:pt>
    <dgm:pt modelId="{52004B15-8182-4EF7-B52A-044D1E095ACA}" type="parTrans" cxnId="{94D17828-F185-47EB-854B-15DED83DB769}">
      <dgm:prSet/>
      <dgm:spPr/>
      <dgm:t>
        <a:bodyPr/>
        <a:lstStyle/>
        <a:p>
          <a:endParaRPr lang="en-US"/>
        </a:p>
      </dgm:t>
    </dgm:pt>
    <dgm:pt modelId="{65D941AF-0602-4679-9859-D1FE82D91855}" type="sibTrans" cxnId="{94D17828-F185-47EB-854B-15DED83DB769}">
      <dgm:prSet/>
      <dgm:spPr/>
      <dgm:t>
        <a:bodyPr/>
        <a:lstStyle/>
        <a:p>
          <a:endParaRPr lang="en-US"/>
        </a:p>
      </dgm:t>
    </dgm:pt>
    <dgm:pt modelId="{8D4867D7-8760-4BCE-A094-389FAD8C7C56}" type="pres">
      <dgm:prSet presAssocID="{97C426D4-7371-4CDB-9E0E-F764C286082D}" presName="root" presStyleCnt="0">
        <dgm:presLayoutVars>
          <dgm:dir/>
          <dgm:resizeHandles val="exact"/>
        </dgm:presLayoutVars>
      </dgm:prSet>
      <dgm:spPr/>
    </dgm:pt>
    <dgm:pt modelId="{C88E8319-A6FC-4E53-914C-57FD04F67597}" type="pres">
      <dgm:prSet presAssocID="{330FA760-A202-4E0F-B75B-772B2AEC22FC}" presName="compNode" presStyleCnt="0"/>
      <dgm:spPr/>
    </dgm:pt>
    <dgm:pt modelId="{2172C5B3-8E9C-418A-AEE2-3FA05BF63CDF}" type="pres">
      <dgm:prSet presAssocID="{330FA760-A202-4E0F-B75B-772B2AEC22FC}" presName="bgRect" presStyleLbl="bgShp" presStyleIdx="0" presStyleCnt="4"/>
      <dgm:spPr/>
    </dgm:pt>
    <dgm:pt modelId="{4176FF4F-ECE8-496F-B019-5E078F1AD06E}" type="pres">
      <dgm:prSet presAssocID="{330FA760-A202-4E0F-B75B-772B2AEC22FC}"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Filter"/>
        </a:ext>
      </dgm:extLst>
    </dgm:pt>
    <dgm:pt modelId="{C8526247-797E-47DB-AD62-F401F7EC84EA}" type="pres">
      <dgm:prSet presAssocID="{330FA760-A202-4E0F-B75B-772B2AEC22FC}" presName="spaceRect" presStyleCnt="0"/>
      <dgm:spPr/>
    </dgm:pt>
    <dgm:pt modelId="{6C1DAD85-624D-4B39-8F4D-C2AA973F55CF}" type="pres">
      <dgm:prSet presAssocID="{330FA760-A202-4E0F-B75B-772B2AEC22FC}" presName="parTx" presStyleLbl="revTx" presStyleIdx="0" presStyleCnt="4">
        <dgm:presLayoutVars>
          <dgm:chMax val="0"/>
          <dgm:chPref val="0"/>
        </dgm:presLayoutVars>
      </dgm:prSet>
      <dgm:spPr/>
    </dgm:pt>
    <dgm:pt modelId="{2F11A759-D8E4-4639-8331-97C76E6162E7}" type="pres">
      <dgm:prSet presAssocID="{5D10651C-DD68-4992-83CE-931B369185D5}" presName="sibTrans" presStyleCnt="0"/>
      <dgm:spPr/>
    </dgm:pt>
    <dgm:pt modelId="{FD801F33-1088-4BCB-A99C-70AED9E9C820}" type="pres">
      <dgm:prSet presAssocID="{96B131C8-53BA-411E-8627-EE1B15191872}" presName="compNode" presStyleCnt="0"/>
      <dgm:spPr/>
    </dgm:pt>
    <dgm:pt modelId="{40669BCB-6E2C-45BA-9A08-8BC092A76D6C}" type="pres">
      <dgm:prSet presAssocID="{96B131C8-53BA-411E-8627-EE1B15191872}" presName="bgRect" presStyleLbl="bgShp" presStyleIdx="1" presStyleCnt="4"/>
      <dgm:spPr/>
    </dgm:pt>
    <dgm:pt modelId="{3110C2A2-4BBB-414B-9E0E-B9C0C4AD2C14}" type="pres">
      <dgm:prSet presAssocID="{96B131C8-53BA-411E-8627-EE1B15191872}"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llseye"/>
        </a:ext>
      </dgm:extLst>
    </dgm:pt>
    <dgm:pt modelId="{60F52083-0364-4ABB-B32E-1E6576C210F3}" type="pres">
      <dgm:prSet presAssocID="{96B131C8-53BA-411E-8627-EE1B15191872}" presName="spaceRect" presStyleCnt="0"/>
      <dgm:spPr/>
    </dgm:pt>
    <dgm:pt modelId="{B47C3668-E2B3-41EB-AE53-F34D4B194990}" type="pres">
      <dgm:prSet presAssocID="{96B131C8-53BA-411E-8627-EE1B15191872}" presName="parTx" presStyleLbl="revTx" presStyleIdx="1" presStyleCnt="4">
        <dgm:presLayoutVars>
          <dgm:chMax val="0"/>
          <dgm:chPref val="0"/>
        </dgm:presLayoutVars>
      </dgm:prSet>
      <dgm:spPr/>
    </dgm:pt>
    <dgm:pt modelId="{80038C49-997D-4394-9DE1-1F144A9A52F9}" type="pres">
      <dgm:prSet presAssocID="{44FCBC86-3B3D-436B-8F0B-138FFDD6B648}" presName="sibTrans" presStyleCnt="0"/>
      <dgm:spPr/>
    </dgm:pt>
    <dgm:pt modelId="{7CB47CED-C06C-45A9-8076-A0E3AD73A7D4}" type="pres">
      <dgm:prSet presAssocID="{7FAF3B88-9C6A-4F3E-A762-0D22117C2774}" presName="compNode" presStyleCnt="0"/>
      <dgm:spPr/>
    </dgm:pt>
    <dgm:pt modelId="{F306BF7F-3267-4D17-B6FD-B2AFD1B75231}" type="pres">
      <dgm:prSet presAssocID="{7FAF3B88-9C6A-4F3E-A762-0D22117C2774}" presName="bgRect" presStyleLbl="bgShp" presStyleIdx="2" presStyleCnt="4"/>
      <dgm:spPr/>
    </dgm:pt>
    <dgm:pt modelId="{6B8A7AB2-B193-40E0-B416-D3F014718DC9}" type="pres">
      <dgm:prSet presAssocID="{7FAF3B88-9C6A-4F3E-A762-0D22117C2774}"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Advertising"/>
        </a:ext>
      </dgm:extLst>
    </dgm:pt>
    <dgm:pt modelId="{492019E2-CDB1-44D0-84FD-FCBB4773D891}" type="pres">
      <dgm:prSet presAssocID="{7FAF3B88-9C6A-4F3E-A762-0D22117C2774}" presName="spaceRect" presStyleCnt="0"/>
      <dgm:spPr/>
    </dgm:pt>
    <dgm:pt modelId="{AD427638-E77C-422F-A6D4-05B0491CDDF1}" type="pres">
      <dgm:prSet presAssocID="{7FAF3B88-9C6A-4F3E-A762-0D22117C2774}" presName="parTx" presStyleLbl="revTx" presStyleIdx="2" presStyleCnt="4">
        <dgm:presLayoutVars>
          <dgm:chMax val="0"/>
          <dgm:chPref val="0"/>
        </dgm:presLayoutVars>
      </dgm:prSet>
      <dgm:spPr/>
    </dgm:pt>
    <dgm:pt modelId="{36742C13-0B54-4FFA-89EC-90CA6D0153D8}" type="pres">
      <dgm:prSet presAssocID="{47FD802E-C8C0-4068-AA74-3F18183D5FB3}" presName="sibTrans" presStyleCnt="0"/>
      <dgm:spPr/>
    </dgm:pt>
    <dgm:pt modelId="{7CAE84B8-6EB7-490E-842E-0B609651F416}" type="pres">
      <dgm:prSet presAssocID="{2F875011-A034-4A56-812C-F2B610032064}" presName="compNode" presStyleCnt="0"/>
      <dgm:spPr/>
    </dgm:pt>
    <dgm:pt modelId="{DF09BA05-DC95-44B5-8A99-4CCBB8D13B3A}" type="pres">
      <dgm:prSet presAssocID="{2F875011-A034-4A56-812C-F2B610032064}" presName="bgRect" presStyleLbl="bgShp" presStyleIdx="3" presStyleCnt="4"/>
      <dgm:spPr/>
    </dgm:pt>
    <dgm:pt modelId="{32F03C38-462D-45B3-91DA-4B558BACA258}" type="pres">
      <dgm:prSet presAssocID="{2F875011-A034-4A56-812C-F2B610032064}"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agnifying glass"/>
        </a:ext>
      </dgm:extLst>
    </dgm:pt>
    <dgm:pt modelId="{53E2B9A3-9ECD-483F-840C-3FBE5F9F26BA}" type="pres">
      <dgm:prSet presAssocID="{2F875011-A034-4A56-812C-F2B610032064}" presName="spaceRect" presStyleCnt="0"/>
      <dgm:spPr/>
    </dgm:pt>
    <dgm:pt modelId="{D8CF98B0-1622-4A24-A962-0185A1D5AA02}" type="pres">
      <dgm:prSet presAssocID="{2F875011-A034-4A56-812C-F2B610032064}" presName="parTx" presStyleLbl="revTx" presStyleIdx="3" presStyleCnt="4">
        <dgm:presLayoutVars>
          <dgm:chMax val="0"/>
          <dgm:chPref val="0"/>
        </dgm:presLayoutVars>
      </dgm:prSet>
      <dgm:spPr/>
    </dgm:pt>
  </dgm:ptLst>
  <dgm:cxnLst>
    <dgm:cxn modelId="{29BE7D0E-1181-4133-A4BA-274E8BC6C03D}" type="presOf" srcId="{7FAF3B88-9C6A-4F3E-A762-0D22117C2774}" destId="{AD427638-E77C-422F-A6D4-05B0491CDDF1}" srcOrd="0" destOrd="0" presId="urn:microsoft.com/office/officeart/2018/2/layout/IconVerticalSolidList"/>
    <dgm:cxn modelId="{11B95010-FD2C-4EE2-9EB4-D742685EFF70}" type="presOf" srcId="{2F875011-A034-4A56-812C-F2B610032064}" destId="{D8CF98B0-1622-4A24-A962-0185A1D5AA02}" srcOrd="0" destOrd="0" presId="urn:microsoft.com/office/officeart/2018/2/layout/IconVerticalSolidList"/>
    <dgm:cxn modelId="{94D17828-F185-47EB-854B-15DED83DB769}" srcId="{97C426D4-7371-4CDB-9E0E-F764C286082D}" destId="{2F875011-A034-4A56-812C-F2B610032064}" srcOrd="3" destOrd="0" parTransId="{52004B15-8182-4EF7-B52A-044D1E095ACA}" sibTransId="{65D941AF-0602-4679-9859-D1FE82D91855}"/>
    <dgm:cxn modelId="{EF7F0AB3-25C7-4BF6-84F7-5AD762D9B9F7}" srcId="{97C426D4-7371-4CDB-9E0E-F764C286082D}" destId="{330FA760-A202-4E0F-B75B-772B2AEC22FC}" srcOrd="0" destOrd="0" parTransId="{B943FE32-2BF0-42A6-9FF5-E0105E7906E7}" sibTransId="{5D10651C-DD68-4992-83CE-931B369185D5}"/>
    <dgm:cxn modelId="{DB172ABA-E8B5-442B-9FA4-8F1F827BA0F6}" srcId="{97C426D4-7371-4CDB-9E0E-F764C286082D}" destId="{7FAF3B88-9C6A-4F3E-A762-0D22117C2774}" srcOrd="2" destOrd="0" parTransId="{1E5053C0-F58A-4BBA-82BC-BC59AF02E864}" sibTransId="{47FD802E-C8C0-4068-AA74-3F18183D5FB3}"/>
    <dgm:cxn modelId="{AF6894C1-311C-48F5-951F-3F4DCE09BC5F}" srcId="{97C426D4-7371-4CDB-9E0E-F764C286082D}" destId="{96B131C8-53BA-411E-8627-EE1B15191872}" srcOrd="1" destOrd="0" parTransId="{9B8FEB24-7951-497A-AABF-B63F5DEF531E}" sibTransId="{44FCBC86-3B3D-436B-8F0B-138FFDD6B648}"/>
    <dgm:cxn modelId="{E11679CC-AC82-4187-B175-2213DEE93A46}" type="presOf" srcId="{97C426D4-7371-4CDB-9E0E-F764C286082D}" destId="{8D4867D7-8760-4BCE-A094-389FAD8C7C56}" srcOrd="0" destOrd="0" presId="urn:microsoft.com/office/officeart/2018/2/layout/IconVerticalSolidList"/>
    <dgm:cxn modelId="{421E97EC-1990-423A-BB80-97EA0E3C260F}" type="presOf" srcId="{96B131C8-53BA-411E-8627-EE1B15191872}" destId="{B47C3668-E2B3-41EB-AE53-F34D4B194990}" srcOrd="0" destOrd="0" presId="urn:microsoft.com/office/officeart/2018/2/layout/IconVerticalSolidList"/>
    <dgm:cxn modelId="{CBB649F8-3423-41B7-9142-EDAF7B097852}" type="presOf" srcId="{330FA760-A202-4E0F-B75B-772B2AEC22FC}" destId="{6C1DAD85-624D-4B39-8F4D-C2AA973F55CF}" srcOrd="0" destOrd="0" presId="urn:microsoft.com/office/officeart/2018/2/layout/IconVerticalSolidList"/>
    <dgm:cxn modelId="{BDB5AAA0-E0AE-4195-83F9-2562E7B0F215}" type="presParOf" srcId="{8D4867D7-8760-4BCE-A094-389FAD8C7C56}" destId="{C88E8319-A6FC-4E53-914C-57FD04F67597}" srcOrd="0" destOrd="0" presId="urn:microsoft.com/office/officeart/2018/2/layout/IconVerticalSolidList"/>
    <dgm:cxn modelId="{9870DC6C-653A-4B6A-89EA-9B2BAE011085}" type="presParOf" srcId="{C88E8319-A6FC-4E53-914C-57FD04F67597}" destId="{2172C5B3-8E9C-418A-AEE2-3FA05BF63CDF}" srcOrd="0" destOrd="0" presId="urn:microsoft.com/office/officeart/2018/2/layout/IconVerticalSolidList"/>
    <dgm:cxn modelId="{2BD566E3-A457-4147-AEE6-6238F4190DCA}" type="presParOf" srcId="{C88E8319-A6FC-4E53-914C-57FD04F67597}" destId="{4176FF4F-ECE8-496F-B019-5E078F1AD06E}" srcOrd="1" destOrd="0" presId="urn:microsoft.com/office/officeart/2018/2/layout/IconVerticalSolidList"/>
    <dgm:cxn modelId="{4D460305-66CD-45A5-8A88-F8832E77222E}" type="presParOf" srcId="{C88E8319-A6FC-4E53-914C-57FD04F67597}" destId="{C8526247-797E-47DB-AD62-F401F7EC84EA}" srcOrd="2" destOrd="0" presId="urn:microsoft.com/office/officeart/2018/2/layout/IconVerticalSolidList"/>
    <dgm:cxn modelId="{EB034600-5D01-4DF2-AF89-3317822634F3}" type="presParOf" srcId="{C88E8319-A6FC-4E53-914C-57FD04F67597}" destId="{6C1DAD85-624D-4B39-8F4D-C2AA973F55CF}" srcOrd="3" destOrd="0" presId="urn:microsoft.com/office/officeart/2018/2/layout/IconVerticalSolidList"/>
    <dgm:cxn modelId="{093A523F-F347-4CAA-BB73-B6A77E78CE47}" type="presParOf" srcId="{8D4867D7-8760-4BCE-A094-389FAD8C7C56}" destId="{2F11A759-D8E4-4639-8331-97C76E6162E7}" srcOrd="1" destOrd="0" presId="urn:microsoft.com/office/officeart/2018/2/layout/IconVerticalSolidList"/>
    <dgm:cxn modelId="{B4069309-4E5B-4EDA-9CF7-11042607A1D9}" type="presParOf" srcId="{8D4867D7-8760-4BCE-A094-389FAD8C7C56}" destId="{FD801F33-1088-4BCB-A99C-70AED9E9C820}" srcOrd="2" destOrd="0" presId="urn:microsoft.com/office/officeart/2018/2/layout/IconVerticalSolidList"/>
    <dgm:cxn modelId="{D690C871-1971-43E2-9D51-FEC43821F259}" type="presParOf" srcId="{FD801F33-1088-4BCB-A99C-70AED9E9C820}" destId="{40669BCB-6E2C-45BA-9A08-8BC092A76D6C}" srcOrd="0" destOrd="0" presId="urn:microsoft.com/office/officeart/2018/2/layout/IconVerticalSolidList"/>
    <dgm:cxn modelId="{EF7F70D1-9622-469F-8737-3D9FA7819FC9}" type="presParOf" srcId="{FD801F33-1088-4BCB-A99C-70AED9E9C820}" destId="{3110C2A2-4BBB-414B-9E0E-B9C0C4AD2C14}" srcOrd="1" destOrd="0" presId="urn:microsoft.com/office/officeart/2018/2/layout/IconVerticalSolidList"/>
    <dgm:cxn modelId="{1CA8A90B-87BF-43FB-BEAF-118754E43846}" type="presParOf" srcId="{FD801F33-1088-4BCB-A99C-70AED9E9C820}" destId="{60F52083-0364-4ABB-B32E-1E6576C210F3}" srcOrd="2" destOrd="0" presId="urn:microsoft.com/office/officeart/2018/2/layout/IconVerticalSolidList"/>
    <dgm:cxn modelId="{3F95CB64-883C-4952-BEDF-CE7AC6415F79}" type="presParOf" srcId="{FD801F33-1088-4BCB-A99C-70AED9E9C820}" destId="{B47C3668-E2B3-41EB-AE53-F34D4B194990}" srcOrd="3" destOrd="0" presId="urn:microsoft.com/office/officeart/2018/2/layout/IconVerticalSolidList"/>
    <dgm:cxn modelId="{72D979E0-736B-4B9E-BC80-F5D81FD04C92}" type="presParOf" srcId="{8D4867D7-8760-4BCE-A094-389FAD8C7C56}" destId="{80038C49-997D-4394-9DE1-1F144A9A52F9}" srcOrd="3" destOrd="0" presId="urn:microsoft.com/office/officeart/2018/2/layout/IconVerticalSolidList"/>
    <dgm:cxn modelId="{185630D9-3FDA-4B3E-A9A0-7DEE4D6D2D6D}" type="presParOf" srcId="{8D4867D7-8760-4BCE-A094-389FAD8C7C56}" destId="{7CB47CED-C06C-45A9-8076-A0E3AD73A7D4}" srcOrd="4" destOrd="0" presId="urn:microsoft.com/office/officeart/2018/2/layout/IconVerticalSolidList"/>
    <dgm:cxn modelId="{5EA41319-9C54-459F-9073-70BDC0D9A4F9}" type="presParOf" srcId="{7CB47CED-C06C-45A9-8076-A0E3AD73A7D4}" destId="{F306BF7F-3267-4D17-B6FD-B2AFD1B75231}" srcOrd="0" destOrd="0" presId="urn:microsoft.com/office/officeart/2018/2/layout/IconVerticalSolidList"/>
    <dgm:cxn modelId="{7792DDF8-B8D0-437F-BAAA-A1AF62111445}" type="presParOf" srcId="{7CB47CED-C06C-45A9-8076-A0E3AD73A7D4}" destId="{6B8A7AB2-B193-40E0-B416-D3F014718DC9}" srcOrd="1" destOrd="0" presId="urn:microsoft.com/office/officeart/2018/2/layout/IconVerticalSolidList"/>
    <dgm:cxn modelId="{0DC10AAE-75A4-49EE-860C-FB41C530B542}" type="presParOf" srcId="{7CB47CED-C06C-45A9-8076-A0E3AD73A7D4}" destId="{492019E2-CDB1-44D0-84FD-FCBB4773D891}" srcOrd="2" destOrd="0" presId="urn:microsoft.com/office/officeart/2018/2/layout/IconVerticalSolidList"/>
    <dgm:cxn modelId="{CE7EE74F-0E0A-4212-8B68-B09101425F01}" type="presParOf" srcId="{7CB47CED-C06C-45A9-8076-A0E3AD73A7D4}" destId="{AD427638-E77C-422F-A6D4-05B0491CDDF1}" srcOrd="3" destOrd="0" presId="urn:microsoft.com/office/officeart/2018/2/layout/IconVerticalSolidList"/>
    <dgm:cxn modelId="{D1DEEEAE-A2DF-4883-AE65-ED2F9325990C}" type="presParOf" srcId="{8D4867D7-8760-4BCE-A094-389FAD8C7C56}" destId="{36742C13-0B54-4FFA-89EC-90CA6D0153D8}" srcOrd="5" destOrd="0" presId="urn:microsoft.com/office/officeart/2018/2/layout/IconVerticalSolidList"/>
    <dgm:cxn modelId="{8E0F8428-2157-49AE-A100-F82AF08E031A}" type="presParOf" srcId="{8D4867D7-8760-4BCE-A094-389FAD8C7C56}" destId="{7CAE84B8-6EB7-490E-842E-0B609651F416}" srcOrd="6" destOrd="0" presId="urn:microsoft.com/office/officeart/2018/2/layout/IconVerticalSolidList"/>
    <dgm:cxn modelId="{A104110D-2A89-4D42-A3D1-83DD6C0AAF6E}" type="presParOf" srcId="{7CAE84B8-6EB7-490E-842E-0B609651F416}" destId="{DF09BA05-DC95-44B5-8A99-4CCBB8D13B3A}" srcOrd="0" destOrd="0" presId="urn:microsoft.com/office/officeart/2018/2/layout/IconVerticalSolidList"/>
    <dgm:cxn modelId="{AA85D58D-F227-4700-BDE8-3EDDC0AF66CD}" type="presParOf" srcId="{7CAE84B8-6EB7-490E-842E-0B609651F416}" destId="{32F03C38-462D-45B3-91DA-4B558BACA258}" srcOrd="1" destOrd="0" presId="urn:microsoft.com/office/officeart/2018/2/layout/IconVerticalSolidList"/>
    <dgm:cxn modelId="{8364154C-9D8C-4FFB-8EF0-55F479E656A3}" type="presParOf" srcId="{7CAE84B8-6EB7-490E-842E-0B609651F416}" destId="{53E2B9A3-9ECD-483F-840C-3FBE5F9F26BA}" srcOrd="2" destOrd="0" presId="urn:microsoft.com/office/officeart/2018/2/layout/IconVerticalSolidList"/>
    <dgm:cxn modelId="{B00B97B6-AC24-4157-AA41-BD6827FA6117}" type="presParOf" srcId="{7CAE84B8-6EB7-490E-842E-0B609651F416}" destId="{D8CF98B0-1622-4A24-A962-0185A1D5AA02}"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B847629-2D8F-44F4-A320-6BEF293F2F18}" type="doc">
      <dgm:prSet loTypeId="urn:microsoft.com/office/officeart/2005/8/layout/process1" loCatId="process" qsTypeId="urn:microsoft.com/office/officeart/2005/8/quickstyle/simple3" qsCatId="simple" csTypeId="urn:microsoft.com/office/officeart/2005/8/colors/accent2_1" csCatId="accent2" phldr="1"/>
      <dgm:spPr/>
      <dgm:t>
        <a:bodyPr/>
        <a:lstStyle/>
        <a:p>
          <a:endParaRPr lang="en-GB"/>
        </a:p>
      </dgm:t>
    </dgm:pt>
    <dgm:pt modelId="{6384893D-CDB9-4001-9DFC-80E257DE315B}">
      <dgm:prSet phldrT="[Text]" custT="1"/>
      <dgm:spPr/>
      <dgm:t>
        <a:bodyPr/>
        <a:lstStyle/>
        <a:p>
          <a:pPr algn="ctr">
            <a:lnSpc>
              <a:spcPct val="100000"/>
            </a:lnSpc>
            <a:buNone/>
          </a:pPr>
          <a:r>
            <a:rPr lang="en-GB" sz="1600" b="1" i="0" dirty="0">
              <a:latin typeface="Arial" panose="020B0604020202020204" pitchFamily="34" charset="0"/>
              <a:cs typeface="Arial" panose="020B0604020202020204" pitchFamily="34" charset="0"/>
            </a:rPr>
            <a:t>IDENTIFY</a:t>
          </a:r>
        </a:p>
        <a:p>
          <a:pPr algn="ctr">
            <a:lnSpc>
              <a:spcPct val="100000"/>
            </a:lnSpc>
            <a:buNone/>
          </a:pPr>
          <a:endParaRPr lang="en-GB" sz="1600" b="0" i="0" dirty="0">
            <a:latin typeface="Arial" panose="020B0604020202020204" pitchFamily="34" charset="0"/>
            <a:cs typeface="Arial" panose="020B0604020202020204" pitchFamily="34" charset="0"/>
          </a:endParaRPr>
        </a:p>
        <a:p>
          <a:pPr algn="l">
            <a:lnSpc>
              <a:spcPct val="100000"/>
            </a:lnSpc>
            <a:buNone/>
          </a:pPr>
          <a:r>
            <a:rPr lang="en-GB" sz="1600" b="0" i="0" dirty="0">
              <a:latin typeface="Arial" panose="020B0604020202020204" pitchFamily="34" charset="0"/>
              <a:cs typeface="Arial" panose="020B0604020202020204" pitchFamily="34" charset="0"/>
            </a:rPr>
            <a:t>Need to understand customers</a:t>
          </a:r>
        </a:p>
        <a:p>
          <a:pPr algn="l">
            <a:lnSpc>
              <a:spcPct val="100000"/>
            </a:lnSpc>
            <a:buNone/>
          </a:pPr>
          <a:r>
            <a:rPr lang="en-GB" sz="1600" b="0" i="0" dirty="0">
              <a:latin typeface="Arial" panose="020B0604020202020204" pitchFamily="34" charset="0"/>
              <a:cs typeface="Arial" panose="020B0604020202020204" pitchFamily="34" charset="0"/>
            </a:rPr>
            <a:t>Need to evaluate advertising channels</a:t>
          </a:r>
        </a:p>
        <a:p>
          <a:pPr algn="l">
            <a:lnSpc>
              <a:spcPct val="100000"/>
            </a:lnSpc>
            <a:buNone/>
          </a:pPr>
          <a:endParaRPr lang="en-GB" sz="1600" b="0" i="0" dirty="0">
            <a:latin typeface="Arial" panose="020B0604020202020204" pitchFamily="34" charset="0"/>
            <a:cs typeface="Arial" panose="020B0604020202020204" pitchFamily="34" charset="0"/>
          </a:endParaRPr>
        </a:p>
        <a:p>
          <a:pPr algn="l">
            <a:lnSpc>
              <a:spcPct val="100000"/>
            </a:lnSpc>
            <a:buNone/>
          </a:pPr>
          <a:r>
            <a:rPr lang="en-GB" sz="1600" b="0" i="0" dirty="0">
              <a:latin typeface="Arial" panose="020B0604020202020204" pitchFamily="34" charset="0"/>
              <a:cs typeface="Arial" panose="020B0604020202020204" pitchFamily="34" charset="0"/>
            </a:rPr>
            <a:t>Objective: support data‑driven decisions</a:t>
          </a:r>
          <a:endParaRPr lang="en-GB" sz="1600" dirty="0">
            <a:latin typeface="Arial" panose="020B0604020202020204" pitchFamily="34" charset="0"/>
            <a:cs typeface="Arial" panose="020B0604020202020204" pitchFamily="34" charset="0"/>
          </a:endParaRPr>
        </a:p>
        <a:p>
          <a:pPr algn="ctr">
            <a:lnSpc>
              <a:spcPct val="100000"/>
            </a:lnSpc>
            <a:buNone/>
          </a:pPr>
          <a:endParaRPr lang="en-GB" sz="1600" dirty="0">
            <a:latin typeface="Arial" panose="020B0604020202020204" pitchFamily="34" charset="0"/>
            <a:cs typeface="Arial" panose="020B0604020202020204" pitchFamily="34" charset="0"/>
          </a:endParaRPr>
        </a:p>
      </dgm:t>
    </dgm:pt>
    <dgm:pt modelId="{A25EF046-BA0C-48A6-A9DA-A60CB2A008AC}" type="parTrans" cxnId="{BDED2839-456F-4D12-8CBD-C53CB8065179}">
      <dgm:prSet/>
      <dgm:spPr/>
      <dgm:t>
        <a:bodyPr/>
        <a:lstStyle/>
        <a:p>
          <a:endParaRPr lang="en-GB"/>
        </a:p>
      </dgm:t>
    </dgm:pt>
    <dgm:pt modelId="{105FBD74-ED8B-4918-BB81-133AEEE644E7}" type="sibTrans" cxnId="{BDED2839-456F-4D12-8CBD-C53CB8065179}">
      <dgm:prSet/>
      <dgm:spPr/>
      <dgm:t>
        <a:bodyPr/>
        <a:lstStyle/>
        <a:p>
          <a:endParaRPr lang="en-GB"/>
        </a:p>
      </dgm:t>
    </dgm:pt>
    <dgm:pt modelId="{96393AFF-8252-4730-B800-8600D48EE659}">
      <dgm:prSet phldrT="[Text]" custT="1"/>
      <dgm:spPr/>
      <dgm:t>
        <a:bodyPr/>
        <a:lstStyle/>
        <a:p>
          <a:pPr algn="ctr">
            <a:lnSpc>
              <a:spcPct val="100000"/>
            </a:lnSpc>
            <a:buNone/>
          </a:pPr>
          <a:endParaRPr lang="en-GB" sz="1600" b="1" i="0" dirty="0">
            <a:latin typeface="Arial" panose="020B0604020202020204" pitchFamily="34" charset="0"/>
            <a:cs typeface="Arial" panose="020B0604020202020204" pitchFamily="34" charset="0"/>
          </a:endParaRPr>
        </a:p>
        <a:p>
          <a:pPr algn="ctr">
            <a:lnSpc>
              <a:spcPct val="100000"/>
            </a:lnSpc>
            <a:buNone/>
          </a:pPr>
          <a:r>
            <a:rPr lang="en-GB" sz="1600" b="1" i="0" dirty="0">
              <a:latin typeface="Arial" panose="020B0604020202020204" pitchFamily="34" charset="0"/>
              <a:cs typeface="Arial" panose="020B0604020202020204" pitchFamily="34" charset="0"/>
            </a:rPr>
            <a:t>DEFINE</a:t>
          </a:r>
          <a:endParaRPr lang="en-GB" sz="1600" b="0" i="0" dirty="0">
            <a:latin typeface="Arial" panose="020B0604020202020204" pitchFamily="34" charset="0"/>
            <a:cs typeface="Arial" panose="020B0604020202020204" pitchFamily="34" charset="0"/>
          </a:endParaRPr>
        </a:p>
        <a:p>
          <a:pPr algn="l">
            <a:lnSpc>
              <a:spcPct val="100000"/>
            </a:lnSpc>
            <a:buNone/>
          </a:pPr>
          <a:endParaRPr lang="en-GB" sz="1600" b="0" i="0" dirty="0">
            <a:latin typeface="Arial" panose="020B0604020202020204" pitchFamily="34" charset="0"/>
            <a:cs typeface="Arial" panose="020B0604020202020204" pitchFamily="34" charset="0"/>
          </a:endParaRPr>
        </a:p>
        <a:p>
          <a:pPr algn="l">
            <a:lnSpc>
              <a:spcPct val="100000"/>
            </a:lnSpc>
            <a:buNone/>
          </a:pPr>
          <a:r>
            <a:rPr lang="en-GB" sz="1600" b="0" i="0" dirty="0">
              <a:latin typeface="Arial" panose="020B0604020202020204" pitchFamily="34" charset="0"/>
              <a:cs typeface="Arial" panose="020B0604020202020204" pitchFamily="34" charset="0"/>
            </a:rPr>
            <a:t>Review customer + advertising datasets</a:t>
          </a:r>
        </a:p>
        <a:p>
          <a:pPr algn="l">
            <a:lnSpc>
              <a:spcPct val="100000"/>
            </a:lnSpc>
            <a:buNone/>
          </a:pPr>
          <a:endParaRPr lang="en-GB" sz="1600" b="0" i="0" dirty="0">
            <a:latin typeface="Arial" panose="020B0604020202020204" pitchFamily="34" charset="0"/>
            <a:cs typeface="Arial" panose="020B0604020202020204" pitchFamily="34" charset="0"/>
          </a:endParaRPr>
        </a:p>
        <a:p>
          <a:pPr algn="l">
            <a:lnSpc>
              <a:spcPct val="100000"/>
            </a:lnSpc>
            <a:buNone/>
          </a:pPr>
          <a:r>
            <a:rPr lang="en-GB" sz="1600" b="0" i="0" dirty="0">
              <a:latin typeface="Arial" panose="020B0604020202020204" pitchFamily="34" charset="0"/>
              <a:cs typeface="Arial" panose="020B0604020202020204" pitchFamily="34" charset="0"/>
            </a:rPr>
            <a:t>Identify key fields</a:t>
          </a:r>
        </a:p>
        <a:p>
          <a:pPr algn="l">
            <a:lnSpc>
              <a:spcPct val="100000"/>
            </a:lnSpc>
            <a:buNone/>
          </a:pPr>
          <a:endParaRPr lang="en-GB" sz="1600" b="0" i="0" dirty="0">
            <a:latin typeface="Arial" panose="020B0604020202020204" pitchFamily="34" charset="0"/>
            <a:cs typeface="Arial" panose="020B0604020202020204" pitchFamily="34" charset="0"/>
          </a:endParaRPr>
        </a:p>
        <a:p>
          <a:pPr algn="l">
            <a:lnSpc>
              <a:spcPct val="100000"/>
            </a:lnSpc>
            <a:buNone/>
          </a:pPr>
          <a:r>
            <a:rPr lang="en-GB" sz="1600" b="0" i="0" dirty="0">
              <a:latin typeface="Arial" panose="020B0604020202020204" pitchFamily="34" charset="0"/>
              <a:cs typeface="Arial" panose="020B0604020202020204" pitchFamily="34" charset="0"/>
            </a:rPr>
            <a:t>Plan tools: Excel, SQL, Tableau</a:t>
          </a:r>
        </a:p>
        <a:p>
          <a:pPr algn="ctr">
            <a:lnSpc>
              <a:spcPct val="100000"/>
            </a:lnSpc>
            <a:buNone/>
          </a:pPr>
          <a:endParaRPr lang="en-GB" sz="1600" dirty="0">
            <a:latin typeface="Arial" panose="020B0604020202020204" pitchFamily="34" charset="0"/>
            <a:cs typeface="Arial" panose="020B0604020202020204" pitchFamily="34" charset="0"/>
          </a:endParaRPr>
        </a:p>
        <a:p>
          <a:pPr algn="ctr">
            <a:lnSpc>
              <a:spcPct val="100000"/>
            </a:lnSpc>
            <a:buNone/>
          </a:pPr>
          <a:endParaRPr lang="en-GB" sz="1600" dirty="0">
            <a:latin typeface="Arial" panose="020B0604020202020204" pitchFamily="34" charset="0"/>
            <a:cs typeface="Arial" panose="020B0604020202020204" pitchFamily="34" charset="0"/>
          </a:endParaRPr>
        </a:p>
      </dgm:t>
    </dgm:pt>
    <dgm:pt modelId="{139C1CB7-BF8B-4305-A2FB-4C276DB91BB7}" type="parTrans" cxnId="{4EE50E7D-0E08-412A-90BD-D0125E42AE03}">
      <dgm:prSet/>
      <dgm:spPr/>
      <dgm:t>
        <a:bodyPr/>
        <a:lstStyle/>
        <a:p>
          <a:endParaRPr lang="en-GB"/>
        </a:p>
      </dgm:t>
    </dgm:pt>
    <dgm:pt modelId="{B2D71556-DF01-4815-AF42-9F2B69AA7F13}" type="sibTrans" cxnId="{4EE50E7D-0E08-412A-90BD-D0125E42AE03}">
      <dgm:prSet/>
      <dgm:spPr/>
      <dgm:t>
        <a:bodyPr/>
        <a:lstStyle/>
        <a:p>
          <a:endParaRPr lang="en-GB"/>
        </a:p>
      </dgm:t>
    </dgm:pt>
    <dgm:pt modelId="{C046134C-9497-41A1-8089-6D56BC154CE7}">
      <dgm:prSet phldrT="[Text]" custT="1"/>
      <dgm:spPr/>
      <dgm:t>
        <a:bodyPr/>
        <a:lstStyle/>
        <a:p>
          <a:pPr algn="ctr">
            <a:lnSpc>
              <a:spcPct val="100000"/>
            </a:lnSpc>
            <a:buNone/>
          </a:pPr>
          <a:endParaRPr lang="en-GB" sz="1600" b="1" i="0" dirty="0">
            <a:latin typeface="Arial" panose="020B0604020202020204" pitchFamily="34" charset="0"/>
            <a:cs typeface="Arial" panose="020B0604020202020204" pitchFamily="34" charset="0"/>
          </a:endParaRPr>
        </a:p>
        <a:p>
          <a:pPr algn="ctr">
            <a:lnSpc>
              <a:spcPct val="100000"/>
            </a:lnSpc>
            <a:buNone/>
          </a:pPr>
          <a:endParaRPr lang="en-GB" sz="1600" b="1" i="0" dirty="0">
            <a:latin typeface="Arial" panose="020B0604020202020204" pitchFamily="34" charset="0"/>
            <a:cs typeface="Arial" panose="020B0604020202020204" pitchFamily="34" charset="0"/>
          </a:endParaRPr>
        </a:p>
        <a:p>
          <a:pPr algn="ctr">
            <a:lnSpc>
              <a:spcPct val="100000"/>
            </a:lnSpc>
            <a:buNone/>
          </a:pPr>
          <a:r>
            <a:rPr lang="en-GB" sz="1600" b="1" i="0" dirty="0">
              <a:latin typeface="Arial" panose="020B0604020202020204" pitchFamily="34" charset="0"/>
              <a:cs typeface="Arial" panose="020B0604020202020204" pitchFamily="34" charset="0"/>
            </a:rPr>
            <a:t>EXPLORE</a:t>
          </a:r>
          <a:endParaRPr lang="en-GB" sz="1600" b="0" i="0" dirty="0">
            <a:latin typeface="Arial" panose="020B0604020202020204" pitchFamily="34" charset="0"/>
            <a:cs typeface="Arial" panose="020B0604020202020204" pitchFamily="34" charset="0"/>
          </a:endParaRPr>
        </a:p>
        <a:p>
          <a:pPr algn="ctr">
            <a:lnSpc>
              <a:spcPct val="100000"/>
            </a:lnSpc>
            <a:buNone/>
          </a:pPr>
          <a:endParaRPr lang="en-GB" sz="1600" b="0" i="0" dirty="0">
            <a:latin typeface="Arial" panose="020B0604020202020204" pitchFamily="34" charset="0"/>
            <a:cs typeface="Arial" panose="020B0604020202020204" pitchFamily="34" charset="0"/>
          </a:endParaRPr>
        </a:p>
        <a:p>
          <a:pPr algn="l">
            <a:lnSpc>
              <a:spcPct val="100000"/>
            </a:lnSpc>
            <a:buNone/>
          </a:pPr>
          <a:r>
            <a:rPr lang="en-GB" sz="1600" b="0" i="0" dirty="0">
              <a:latin typeface="Arial" panose="020B0604020202020204" pitchFamily="34" charset="0"/>
              <a:cs typeface="Arial" panose="020B0604020202020204" pitchFamily="34" charset="0"/>
            </a:rPr>
            <a:t>Clean data in Excel</a:t>
          </a:r>
        </a:p>
        <a:p>
          <a:pPr algn="ctr">
            <a:lnSpc>
              <a:spcPct val="100000"/>
            </a:lnSpc>
            <a:buNone/>
          </a:pPr>
          <a:endParaRPr lang="en-GB" sz="1600" b="0" i="0" dirty="0">
            <a:latin typeface="Arial" panose="020B0604020202020204" pitchFamily="34" charset="0"/>
            <a:cs typeface="Arial" panose="020B0604020202020204" pitchFamily="34" charset="0"/>
          </a:endParaRPr>
        </a:p>
        <a:p>
          <a:pPr algn="l">
            <a:lnSpc>
              <a:spcPct val="100000"/>
            </a:lnSpc>
            <a:buNone/>
          </a:pPr>
          <a:r>
            <a:rPr lang="en-GB" sz="1600" b="0" i="0" dirty="0">
              <a:latin typeface="Arial" panose="020B0604020202020204" pitchFamily="34" charset="0"/>
              <a:cs typeface="Arial" panose="020B0604020202020204" pitchFamily="34" charset="0"/>
            </a:rPr>
            <a:t>Join datasets using SQL</a:t>
          </a:r>
        </a:p>
        <a:p>
          <a:pPr algn="ctr">
            <a:lnSpc>
              <a:spcPct val="100000"/>
            </a:lnSpc>
            <a:buNone/>
          </a:pPr>
          <a:endParaRPr lang="en-GB" sz="1600" b="0" i="0" dirty="0">
            <a:latin typeface="Arial" panose="020B0604020202020204" pitchFamily="34" charset="0"/>
            <a:cs typeface="Arial" panose="020B0604020202020204" pitchFamily="34" charset="0"/>
          </a:endParaRPr>
        </a:p>
        <a:p>
          <a:pPr algn="l">
            <a:lnSpc>
              <a:spcPct val="100000"/>
            </a:lnSpc>
            <a:buNone/>
          </a:pPr>
          <a:r>
            <a:rPr lang="en-GB" sz="1600" b="0" i="0" dirty="0">
              <a:latin typeface="Arial" panose="020B0604020202020204" pitchFamily="34" charset="0"/>
              <a:cs typeface="Arial" panose="020B0604020202020204" pitchFamily="34" charset="0"/>
            </a:rPr>
            <a:t>Run queries on exposure &amp; spending</a:t>
          </a:r>
        </a:p>
        <a:p>
          <a:pPr algn="ctr">
            <a:lnSpc>
              <a:spcPct val="100000"/>
            </a:lnSpc>
            <a:buNone/>
          </a:pPr>
          <a:endParaRPr lang="en-GB" sz="1600" b="0" i="0" dirty="0">
            <a:latin typeface="Arial" panose="020B0604020202020204" pitchFamily="34" charset="0"/>
            <a:cs typeface="Arial" panose="020B0604020202020204" pitchFamily="34" charset="0"/>
          </a:endParaRPr>
        </a:p>
        <a:p>
          <a:pPr algn="l">
            <a:lnSpc>
              <a:spcPct val="100000"/>
            </a:lnSpc>
            <a:buNone/>
          </a:pPr>
          <a:r>
            <a:rPr lang="en-GB" sz="1600" b="0" i="0" dirty="0">
              <a:latin typeface="Arial" panose="020B0604020202020204" pitchFamily="34" charset="0"/>
              <a:cs typeface="Arial" panose="020B0604020202020204" pitchFamily="34" charset="0"/>
            </a:rPr>
            <a:t>Build initial Tableau visuals</a:t>
          </a:r>
        </a:p>
        <a:p>
          <a:pPr algn="ctr">
            <a:lnSpc>
              <a:spcPct val="100000"/>
            </a:lnSpc>
            <a:buNone/>
          </a:pPr>
          <a:endParaRPr lang="en-GB" sz="1600" dirty="0">
            <a:latin typeface="Arial" panose="020B0604020202020204" pitchFamily="34" charset="0"/>
            <a:cs typeface="Arial" panose="020B0604020202020204" pitchFamily="34" charset="0"/>
          </a:endParaRPr>
        </a:p>
        <a:p>
          <a:pPr algn="ctr">
            <a:lnSpc>
              <a:spcPct val="100000"/>
            </a:lnSpc>
            <a:buNone/>
          </a:pPr>
          <a:endParaRPr lang="en-GB" sz="1600" dirty="0">
            <a:latin typeface="Arial" panose="020B0604020202020204" pitchFamily="34" charset="0"/>
            <a:cs typeface="Arial" panose="020B0604020202020204" pitchFamily="34" charset="0"/>
          </a:endParaRPr>
        </a:p>
      </dgm:t>
    </dgm:pt>
    <dgm:pt modelId="{390E23A0-2C6D-4075-9D7A-EA1CA9C966FD}" type="parTrans" cxnId="{975F6CE6-7136-402B-839A-E7842158C346}">
      <dgm:prSet/>
      <dgm:spPr/>
      <dgm:t>
        <a:bodyPr/>
        <a:lstStyle/>
        <a:p>
          <a:endParaRPr lang="en-GB"/>
        </a:p>
      </dgm:t>
    </dgm:pt>
    <dgm:pt modelId="{31B6FAE4-4E32-4117-B8CD-267FD7B98F88}" type="sibTrans" cxnId="{975F6CE6-7136-402B-839A-E7842158C346}">
      <dgm:prSet/>
      <dgm:spPr/>
      <dgm:t>
        <a:bodyPr/>
        <a:lstStyle/>
        <a:p>
          <a:endParaRPr lang="en-GB"/>
        </a:p>
      </dgm:t>
    </dgm:pt>
    <dgm:pt modelId="{2F19EE26-101C-4A57-AB01-2FAEDD10D715}">
      <dgm:prSet custT="1"/>
      <dgm:spPr/>
      <dgm:t>
        <a:bodyPr/>
        <a:lstStyle/>
        <a:p>
          <a:pPr algn="ctr">
            <a:lnSpc>
              <a:spcPct val="100000"/>
            </a:lnSpc>
            <a:buNone/>
          </a:pPr>
          <a:r>
            <a:rPr lang="en-GB" sz="1600" b="1" i="0" dirty="0">
              <a:latin typeface="Arial" panose="020B0604020202020204" pitchFamily="34" charset="0"/>
              <a:cs typeface="Arial" panose="020B0604020202020204" pitchFamily="34" charset="0"/>
            </a:rPr>
            <a:t>LOOK BACK</a:t>
          </a:r>
          <a:endParaRPr lang="en-GB" sz="1600" b="0" i="0" dirty="0">
            <a:latin typeface="Arial" panose="020B0604020202020204" pitchFamily="34" charset="0"/>
            <a:cs typeface="Arial" panose="020B0604020202020204" pitchFamily="34" charset="0"/>
          </a:endParaRPr>
        </a:p>
        <a:p>
          <a:pPr algn="ctr">
            <a:lnSpc>
              <a:spcPct val="100000"/>
            </a:lnSpc>
            <a:buNone/>
          </a:pPr>
          <a:endParaRPr lang="en-GB" sz="1600" b="0" i="0" dirty="0">
            <a:latin typeface="Arial" panose="020B0604020202020204" pitchFamily="34" charset="0"/>
            <a:cs typeface="Arial" panose="020B0604020202020204" pitchFamily="34" charset="0"/>
          </a:endParaRPr>
        </a:p>
        <a:p>
          <a:pPr algn="l">
            <a:lnSpc>
              <a:spcPct val="100000"/>
            </a:lnSpc>
            <a:buNone/>
          </a:pPr>
          <a:r>
            <a:rPr lang="en-GB" sz="1600" b="0" i="0" dirty="0">
              <a:latin typeface="Arial" panose="020B0604020202020204" pitchFamily="34" charset="0"/>
              <a:cs typeface="Arial" panose="020B0604020202020204" pitchFamily="34" charset="0"/>
            </a:rPr>
            <a:t>Evaluate results &amp; limitations</a:t>
          </a:r>
        </a:p>
        <a:p>
          <a:pPr algn="ctr">
            <a:lnSpc>
              <a:spcPct val="100000"/>
            </a:lnSpc>
            <a:buNone/>
          </a:pPr>
          <a:endParaRPr lang="en-GB" sz="1600" b="0" i="0" dirty="0">
            <a:latin typeface="Arial" panose="020B0604020202020204" pitchFamily="34" charset="0"/>
            <a:cs typeface="Arial" panose="020B0604020202020204" pitchFamily="34" charset="0"/>
          </a:endParaRPr>
        </a:p>
        <a:p>
          <a:pPr algn="ctr">
            <a:lnSpc>
              <a:spcPct val="100000"/>
            </a:lnSpc>
            <a:buNone/>
          </a:pPr>
          <a:endParaRPr lang="en-GB" sz="1600" b="0" i="0" dirty="0">
            <a:latin typeface="Arial" panose="020B0604020202020204" pitchFamily="34" charset="0"/>
            <a:cs typeface="Arial" panose="020B0604020202020204" pitchFamily="34" charset="0"/>
          </a:endParaRPr>
        </a:p>
        <a:p>
          <a:pPr algn="l">
            <a:lnSpc>
              <a:spcPct val="100000"/>
            </a:lnSpc>
            <a:buNone/>
          </a:pPr>
          <a:r>
            <a:rPr lang="en-GB" sz="1600" b="0" i="0" dirty="0">
              <a:latin typeface="Arial" panose="020B0604020202020204" pitchFamily="34" charset="0"/>
              <a:cs typeface="Arial" panose="020B0604020202020204" pitchFamily="34" charset="0"/>
            </a:rPr>
            <a:t>Identify improvements</a:t>
          </a:r>
        </a:p>
        <a:p>
          <a:pPr algn="ctr">
            <a:lnSpc>
              <a:spcPct val="100000"/>
            </a:lnSpc>
            <a:buNone/>
          </a:pPr>
          <a:endParaRPr lang="en-GB" sz="1600" b="0" i="0" dirty="0">
            <a:latin typeface="Arial" panose="020B0604020202020204" pitchFamily="34" charset="0"/>
            <a:cs typeface="Arial" panose="020B0604020202020204" pitchFamily="34" charset="0"/>
          </a:endParaRPr>
        </a:p>
        <a:p>
          <a:pPr algn="l">
            <a:lnSpc>
              <a:spcPct val="100000"/>
            </a:lnSpc>
            <a:buNone/>
          </a:pPr>
          <a:r>
            <a:rPr lang="en-GB" sz="1600" b="0" i="0" dirty="0">
              <a:latin typeface="Arial" panose="020B0604020202020204" pitchFamily="34" charset="0"/>
              <a:cs typeface="Arial" panose="020B0604020202020204" pitchFamily="34" charset="0"/>
            </a:rPr>
            <a:t>Confirm strategic value of insights</a:t>
          </a:r>
        </a:p>
        <a:p>
          <a:pPr algn="ctr">
            <a:lnSpc>
              <a:spcPct val="100000"/>
            </a:lnSpc>
            <a:buNone/>
          </a:pPr>
          <a:endParaRPr lang="en-GB" sz="1600" dirty="0">
            <a:latin typeface="Arial" panose="020B0604020202020204" pitchFamily="34" charset="0"/>
            <a:cs typeface="Arial" panose="020B0604020202020204" pitchFamily="34" charset="0"/>
          </a:endParaRPr>
        </a:p>
        <a:p>
          <a:pPr algn="ctr">
            <a:lnSpc>
              <a:spcPct val="90000"/>
            </a:lnSpc>
            <a:buNone/>
          </a:pPr>
          <a:endParaRPr lang="en-GB" sz="1200" dirty="0"/>
        </a:p>
      </dgm:t>
    </dgm:pt>
    <dgm:pt modelId="{F0E52C1A-7480-47A7-9816-F6EA2207A8FC}" type="parTrans" cxnId="{BE4C5B1D-8030-4D1A-A9C6-377ED9240734}">
      <dgm:prSet/>
      <dgm:spPr/>
      <dgm:t>
        <a:bodyPr/>
        <a:lstStyle/>
        <a:p>
          <a:endParaRPr lang="en-GB"/>
        </a:p>
      </dgm:t>
    </dgm:pt>
    <dgm:pt modelId="{C9BAFBF8-7675-49F9-9965-48D578AE0F95}" type="sibTrans" cxnId="{BE4C5B1D-8030-4D1A-A9C6-377ED9240734}">
      <dgm:prSet/>
      <dgm:spPr/>
      <dgm:t>
        <a:bodyPr/>
        <a:lstStyle/>
        <a:p>
          <a:endParaRPr lang="en-GB"/>
        </a:p>
      </dgm:t>
    </dgm:pt>
    <dgm:pt modelId="{E665B8B0-914E-4036-884C-26A93BA767F9}">
      <dgm:prSet custT="1"/>
      <dgm:spPr/>
      <dgm:t>
        <a:bodyPr/>
        <a:lstStyle/>
        <a:p>
          <a:pPr algn="ctr">
            <a:lnSpc>
              <a:spcPct val="100000"/>
            </a:lnSpc>
            <a:buNone/>
          </a:pPr>
          <a:endParaRPr lang="en-GB" sz="1600" b="1" i="0" dirty="0">
            <a:latin typeface="Arial" panose="020B0604020202020204" pitchFamily="34" charset="0"/>
            <a:cs typeface="Arial" panose="020B0604020202020204" pitchFamily="34" charset="0"/>
          </a:endParaRPr>
        </a:p>
        <a:p>
          <a:pPr algn="ctr">
            <a:lnSpc>
              <a:spcPct val="100000"/>
            </a:lnSpc>
            <a:buNone/>
          </a:pPr>
          <a:endParaRPr lang="en-GB" sz="1600" b="1" i="0" dirty="0">
            <a:latin typeface="Arial" panose="020B0604020202020204" pitchFamily="34" charset="0"/>
            <a:cs typeface="Arial" panose="020B0604020202020204" pitchFamily="34" charset="0"/>
          </a:endParaRPr>
        </a:p>
        <a:p>
          <a:pPr algn="ctr">
            <a:lnSpc>
              <a:spcPct val="100000"/>
            </a:lnSpc>
            <a:buNone/>
          </a:pPr>
          <a:r>
            <a:rPr lang="en-GB" sz="1600" b="1" i="0" dirty="0">
              <a:latin typeface="Arial" panose="020B0604020202020204" pitchFamily="34" charset="0"/>
              <a:cs typeface="Arial" panose="020B0604020202020204" pitchFamily="34" charset="0"/>
            </a:rPr>
            <a:t>ACT</a:t>
          </a:r>
          <a:endParaRPr lang="en-GB" sz="1600" b="0" i="0" dirty="0">
            <a:latin typeface="Arial" panose="020B0604020202020204" pitchFamily="34" charset="0"/>
            <a:cs typeface="Arial" panose="020B0604020202020204" pitchFamily="34" charset="0"/>
          </a:endParaRPr>
        </a:p>
        <a:p>
          <a:pPr algn="ctr">
            <a:lnSpc>
              <a:spcPct val="100000"/>
            </a:lnSpc>
            <a:buNone/>
          </a:pPr>
          <a:endParaRPr lang="en-GB" sz="1600" b="0" i="0" dirty="0">
            <a:latin typeface="Arial" panose="020B0604020202020204" pitchFamily="34" charset="0"/>
            <a:cs typeface="Arial" panose="020B0604020202020204" pitchFamily="34" charset="0"/>
          </a:endParaRPr>
        </a:p>
        <a:p>
          <a:pPr algn="l">
            <a:lnSpc>
              <a:spcPct val="100000"/>
            </a:lnSpc>
            <a:buNone/>
          </a:pPr>
          <a:r>
            <a:rPr lang="en-GB" sz="1600" b="0" i="0" dirty="0">
              <a:latin typeface="Arial" panose="020B0604020202020204" pitchFamily="34" charset="0"/>
              <a:cs typeface="Arial" panose="020B0604020202020204" pitchFamily="34" charset="0"/>
            </a:rPr>
            <a:t>Create full dashboards</a:t>
          </a:r>
        </a:p>
        <a:p>
          <a:pPr algn="l">
            <a:lnSpc>
              <a:spcPct val="100000"/>
            </a:lnSpc>
            <a:buNone/>
          </a:pPr>
          <a:endParaRPr lang="en-GB" sz="1600" b="0" i="0" dirty="0">
            <a:latin typeface="Arial" panose="020B0604020202020204" pitchFamily="34" charset="0"/>
            <a:cs typeface="Arial" panose="020B0604020202020204" pitchFamily="34" charset="0"/>
          </a:endParaRPr>
        </a:p>
        <a:p>
          <a:pPr algn="l">
            <a:lnSpc>
              <a:spcPct val="100000"/>
            </a:lnSpc>
            <a:buNone/>
          </a:pPr>
          <a:r>
            <a:rPr lang="en-GB" sz="1600" b="0" i="0" dirty="0">
              <a:latin typeface="Arial" panose="020B0604020202020204" pitchFamily="34" charset="0"/>
              <a:cs typeface="Arial" panose="020B0604020202020204" pitchFamily="34" charset="0"/>
            </a:rPr>
            <a:t>Analyse demographics, spending &amp; ad performance</a:t>
          </a:r>
        </a:p>
        <a:p>
          <a:pPr algn="l">
            <a:lnSpc>
              <a:spcPct val="100000"/>
            </a:lnSpc>
            <a:buNone/>
          </a:pPr>
          <a:r>
            <a:rPr lang="en-GB" sz="1600" b="0" i="0" dirty="0">
              <a:latin typeface="Arial" panose="020B0604020202020204" pitchFamily="34" charset="0"/>
              <a:cs typeface="Arial" panose="020B0604020202020204" pitchFamily="34" charset="0"/>
            </a:rPr>
            <a:t>Identify effective channels</a:t>
          </a:r>
        </a:p>
        <a:p>
          <a:pPr algn="l">
            <a:lnSpc>
              <a:spcPct val="100000"/>
            </a:lnSpc>
            <a:buNone/>
          </a:pPr>
          <a:r>
            <a:rPr lang="en-GB" sz="1600" b="0" i="0" dirty="0">
              <a:latin typeface="Arial" panose="020B0604020202020204" pitchFamily="34" charset="0"/>
              <a:cs typeface="Arial" panose="020B0604020202020204" pitchFamily="34" charset="0"/>
            </a:rPr>
            <a:t>Generate recommendations</a:t>
          </a:r>
        </a:p>
        <a:p>
          <a:pPr algn="ctr">
            <a:lnSpc>
              <a:spcPct val="100000"/>
            </a:lnSpc>
            <a:buNone/>
          </a:pPr>
          <a:endParaRPr lang="en-GB" sz="1600" dirty="0">
            <a:latin typeface="Arial" panose="020B0604020202020204" pitchFamily="34" charset="0"/>
            <a:cs typeface="Arial" panose="020B0604020202020204" pitchFamily="34" charset="0"/>
          </a:endParaRPr>
        </a:p>
        <a:p>
          <a:pPr algn="ctr">
            <a:lnSpc>
              <a:spcPct val="100000"/>
            </a:lnSpc>
            <a:buNone/>
          </a:pPr>
          <a:endParaRPr lang="en-GB" sz="1600" dirty="0">
            <a:latin typeface="Arial" panose="020B0604020202020204" pitchFamily="34" charset="0"/>
            <a:cs typeface="Arial" panose="020B0604020202020204" pitchFamily="34" charset="0"/>
          </a:endParaRPr>
        </a:p>
      </dgm:t>
    </dgm:pt>
    <dgm:pt modelId="{2907AB27-D81E-4382-B3D3-EBE9ED99BDAB}" type="sibTrans" cxnId="{7FE479F7-2B3C-431E-A179-74C3E3646384}">
      <dgm:prSet/>
      <dgm:spPr/>
      <dgm:t>
        <a:bodyPr/>
        <a:lstStyle/>
        <a:p>
          <a:endParaRPr lang="en-GB"/>
        </a:p>
      </dgm:t>
    </dgm:pt>
    <dgm:pt modelId="{254D4C2C-1238-452E-AE66-27ADDADC0C32}" type="parTrans" cxnId="{7FE479F7-2B3C-431E-A179-74C3E3646384}">
      <dgm:prSet/>
      <dgm:spPr/>
      <dgm:t>
        <a:bodyPr/>
        <a:lstStyle/>
        <a:p>
          <a:endParaRPr lang="en-GB"/>
        </a:p>
      </dgm:t>
    </dgm:pt>
    <dgm:pt modelId="{34EA061F-C227-47D5-B76E-6FB2E72B85BF}" type="pres">
      <dgm:prSet presAssocID="{8B847629-2D8F-44F4-A320-6BEF293F2F18}" presName="Name0" presStyleCnt="0">
        <dgm:presLayoutVars>
          <dgm:dir/>
          <dgm:resizeHandles val="exact"/>
        </dgm:presLayoutVars>
      </dgm:prSet>
      <dgm:spPr/>
    </dgm:pt>
    <dgm:pt modelId="{2F01BEDC-1AB7-49E8-BFDA-E02595D1801D}" type="pres">
      <dgm:prSet presAssocID="{6384893D-CDB9-4001-9DFC-80E257DE315B}" presName="node" presStyleLbl="node1" presStyleIdx="0" presStyleCnt="5">
        <dgm:presLayoutVars>
          <dgm:bulletEnabled val="1"/>
        </dgm:presLayoutVars>
      </dgm:prSet>
      <dgm:spPr/>
    </dgm:pt>
    <dgm:pt modelId="{1980F7C7-1CD7-415C-8AD3-ED1E81773BE4}" type="pres">
      <dgm:prSet presAssocID="{105FBD74-ED8B-4918-BB81-133AEEE644E7}" presName="sibTrans" presStyleLbl="sibTrans2D1" presStyleIdx="0" presStyleCnt="4"/>
      <dgm:spPr/>
    </dgm:pt>
    <dgm:pt modelId="{F8311E77-EC4D-4F4F-B4E9-49F58A9C1C0E}" type="pres">
      <dgm:prSet presAssocID="{105FBD74-ED8B-4918-BB81-133AEEE644E7}" presName="connectorText" presStyleLbl="sibTrans2D1" presStyleIdx="0" presStyleCnt="4"/>
      <dgm:spPr/>
    </dgm:pt>
    <dgm:pt modelId="{B3FCD189-C571-4BD9-9412-5EE694A15508}" type="pres">
      <dgm:prSet presAssocID="{96393AFF-8252-4730-B800-8600D48EE659}" presName="node" presStyleLbl="node1" presStyleIdx="1" presStyleCnt="5">
        <dgm:presLayoutVars>
          <dgm:bulletEnabled val="1"/>
        </dgm:presLayoutVars>
      </dgm:prSet>
      <dgm:spPr/>
    </dgm:pt>
    <dgm:pt modelId="{03857B75-8BEC-4ADA-9D48-B134456F901F}" type="pres">
      <dgm:prSet presAssocID="{B2D71556-DF01-4815-AF42-9F2B69AA7F13}" presName="sibTrans" presStyleLbl="sibTrans2D1" presStyleIdx="1" presStyleCnt="4"/>
      <dgm:spPr/>
    </dgm:pt>
    <dgm:pt modelId="{9413CF6A-8F6C-478F-9B40-76615432B9AD}" type="pres">
      <dgm:prSet presAssocID="{B2D71556-DF01-4815-AF42-9F2B69AA7F13}" presName="connectorText" presStyleLbl="sibTrans2D1" presStyleIdx="1" presStyleCnt="4"/>
      <dgm:spPr/>
    </dgm:pt>
    <dgm:pt modelId="{27F876D7-6051-4923-AEE0-9E918B8A0E28}" type="pres">
      <dgm:prSet presAssocID="{C046134C-9497-41A1-8089-6D56BC154CE7}" presName="node" presStyleLbl="node1" presStyleIdx="2" presStyleCnt="5">
        <dgm:presLayoutVars>
          <dgm:bulletEnabled val="1"/>
        </dgm:presLayoutVars>
      </dgm:prSet>
      <dgm:spPr/>
    </dgm:pt>
    <dgm:pt modelId="{47A1E2D0-E45B-4A7A-BDAD-E3ECB393CE24}" type="pres">
      <dgm:prSet presAssocID="{31B6FAE4-4E32-4117-B8CD-267FD7B98F88}" presName="sibTrans" presStyleLbl="sibTrans2D1" presStyleIdx="2" presStyleCnt="4"/>
      <dgm:spPr/>
    </dgm:pt>
    <dgm:pt modelId="{9C17F744-9A91-4357-83D1-CC65F605E936}" type="pres">
      <dgm:prSet presAssocID="{31B6FAE4-4E32-4117-B8CD-267FD7B98F88}" presName="connectorText" presStyleLbl="sibTrans2D1" presStyleIdx="2" presStyleCnt="4"/>
      <dgm:spPr/>
    </dgm:pt>
    <dgm:pt modelId="{0ADCAD37-9CB2-4C56-BF7B-BBAB4850851F}" type="pres">
      <dgm:prSet presAssocID="{E665B8B0-914E-4036-884C-26A93BA767F9}" presName="node" presStyleLbl="node1" presStyleIdx="3" presStyleCnt="5">
        <dgm:presLayoutVars>
          <dgm:bulletEnabled val="1"/>
        </dgm:presLayoutVars>
      </dgm:prSet>
      <dgm:spPr/>
    </dgm:pt>
    <dgm:pt modelId="{5F190A71-8387-467E-917C-7AFC55439298}" type="pres">
      <dgm:prSet presAssocID="{2907AB27-D81E-4382-B3D3-EBE9ED99BDAB}" presName="sibTrans" presStyleLbl="sibTrans2D1" presStyleIdx="3" presStyleCnt="4"/>
      <dgm:spPr/>
    </dgm:pt>
    <dgm:pt modelId="{0C764889-3F0B-4B72-8A72-FF8235E2211C}" type="pres">
      <dgm:prSet presAssocID="{2907AB27-D81E-4382-B3D3-EBE9ED99BDAB}" presName="connectorText" presStyleLbl="sibTrans2D1" presStyleIdx="3" presStyleCnt="4"/>
      <dgm:spPr/>
    </dgm:pt>
    <dgm:pt modelId="{D9514A1C-93BB-47A6-B7A9-2D076DFD4287}" type="pres">
      <dgm:prSet presAssocID="{2F19EE26-101C-4A57-AB01-2FAEDD10D715}" presName="node" presStyleLbl="node1" presStyleIdx="4" presStyleCnt="5">
        <dgm:presLayoutVars>
          <dgm:bulletEnabled val="1"/>
        </dgm:presLayoutVars>
      </dgm:prSet>
      <dgm:spPr/>
    </dgm:pt>
  </dgm:ptLst>
  <dgm:cxnLst>
    <dgm:cxn modelId="{F5C6A40B-453D-4BF6-9E93-2C64CEEFAC2B}" type="presOf" srcId="{2907AB27-D81E-4382-B3D3-EBE9ED99BDAB}" destId="{5F190A71-8387-467E-917C-7AFC55439298}" srcOrd="0" destOrd="0" presId="urn:microsoft.com/office/officeart/2005/8/layout/process1"/>
    <dgm:cxn modelId="{8007EE17-9C5C-4AB1-9577-680F9DE6AB58}" type="presOf" srcId="{31B6FAE4-4E32-4117-B8CD-267FD7B98F88}" destId="{9C17F744-9A91-4357-83D1-CC65F605E936}" srcOrd="1" destOrd="0" presId="urn:microsoft.com/office/officeart/2005/8/layout/process1"/>
    <dgm:cxn modelId="{BE4C5B1D-8030-4D1A-A9C6-377ED9240734}" srcId="{8B847629-2D8F-44F4-A320-6BEF293F2F18}" destId="{2F19EE26-101C-4A57-AB01-2FAEDD10D715}" srcOrd="4" destOrd="0" parTransId="{F0E52C1A-7480-47A7-9816-F6EA2207A8FC}" sibTransId="{C9BAFBF8-7675-49F9-9965-48D578AE0F95}"/>
    <dgm:cxn modelId="{B9C6561E-7BCE-48B2-AEEE-B26B70672AD8}" type="presOf" srcId="{E665B8B0-914E-4036-884C-26A93BA767F9}" destId="{0ADCAD37-9CB2-4C56-BF7B-BBAB4850851F}" srcOrd="0" destOrd="0" presId="urn:microsoft.com/office/officeart/2005/8/layout/process1"/>
    <dgm:cxn modelId="{CBFA4224-8FB8-4E47-A4AF-712F359104DA}" type="presOf" srcId="{105FBD74-ED8B-4918-BB81-133AEEE644E7}" destId="{1980F7C7-1CD7-415C-8AD3-ED1E81773BE4}" srcOrd="0" destOrd="0" presId="urn:microsoft.com/office/officeart/2005/8/layout/process1"/>
    <dgm:cxn modelId="{BDED2839-456F-4D12-8CBD-C53CB8065179}" srcId="{8B847629-2D8F-44F4-A320-6BEF293F2F18}" destId="{6384893D-CDB9-4001-9DFC-80E257DE315B}" srcOrd="0" destOrd="0" parTransId="{A25EF046-BA0C-48A6-A9DA-A60CB2A008AC}" sibTransId="{105FBD74-ED8B-4918-BB81-133AEEE644E7}"/>
    <dgm:cxn modelId="{7A47AE3B-E054-4E97-9F18-65855800B9B8}" type="presOf" srcId="{8B847629-2D8F-44F4-A320-6BEF293F2F18}" destId="{34EA061F-C227-47D5-B76E-6FB2E72B85BF}" srcOrd="0" destOrd="0" presId="urn:microsoft.com/office/officeart/2005/8/layout/process1"/>
    <dgm:cxn modelId="{54D0635B-0F0B-470E-AF25-7618771C17A6}" type="presOf" srcId="{105FBD74-ED8B-4918-BB81-133AEEE644E7}" destId="{F8311E77-EC4D-4F4F-B4E9-49F58A9C1C0E}" srcOrd="1" destOrd="0" presId="urn:microsoft.com/office/officeart/2005/8/layout/process1"/>
    <dgm:cxn modelId="{C9158C44-B848-4DA7-B278-1DB9341B4A06}" type="presOf" srcId="{31B6FAE4-4E32-4117-B8CD-267FD7B98F88}" destId="{47A1E2D0-E45B-4A7A-BDAD-E3ECB393CE24}" srcOrd="0" destOrd="0" presId="urn:microsoft.com/office/officeart/2005/8/layout/process1"/>
    <dgm:cxn modelId="{62AE9047-2696-4CAF-9F48-DBB669357239}" type="presOf" srcId="{6384893D-CDB9-4001-9DFC-80E257DE315B}" destId="{2F01BEDC-1AB7-49E8-BFDA-E02595D1801D}" srcOrd="0" destOrd="0" presId="urn:microsoft.com/office/officeart/2005/8/layout/process1"/>
    <dgm:cxn modelId="{2CBD8256-38CE-472D-A021-BE433C9652B5}" type="presOf" srcId="{96393AFF-8252-4730-B800-8600D48EE659}" destId="{B3FCD189-C571-4BD9-9412-5EE694A15508}" srcOrd="0" destOrd="0" presId="urn:microsoft.com/office/officeart/2005/8/layout/process1"/>
    <dgm:cxn modelId="{4EE50E7D-0E08-412A-90BD-D0125E42AE03}" srcId="{8B847629-2D8F-44F4-A320-6BEF293F2F18}" destId="{96393AFF-8252-4730-B800-8600D48EE659}" srcOrd="1" destOrd="0" parTransId="{139C1CB7-BF8B-4305-A2FB-4C276DB91BB7}" sibTransId="{B2D71556-DF01-4815-AF42-9F2B69AA7F13}"/>
    <dgm:cxn modelId="{10B66D9B-72DA-47BD-9825-46107DC7F782}" type="presOf" srcId="{B2D71556-DF01-4815-AF42-9F2B69AA7F13}" destId="{9413CF6A-8F6C-478F-9B40-76615432B9AD}" srcOrd="1" destOrd="0" presId="urn:microsoft.com/office/officeart/2005/8/layout/process1"/>
    <dgm:cxn modelId="{BD4039AE-5E75-472E-A567-1F238FAAEB52}" type="presOf" srcId="{C046134C-9497-41A1-8089-6D56BC154CE7}" destId="{27F876D7-6051-4923-AEE0-9E918B8A0E28}" srcOrd="0" destOrd="0" presId="urn:microsoft.com/office/officeart/2005/8/layout/process1"/>
    <dgm:cxn modelId="{844B9EBD-D8DF-4F6F-AD5E-9DF9B4BF145F}" type="presOf" srcId="{2907AB27-D81E-4382-B3D3-EBE9ED99BDAB}" destId="{0C764889-3F0B-4B72-8A72-FF8235E2211C}" srcOrd="1" destOrd="0" presId="urn:microsoft.com/office/officeart/2005/8/layout/process1"/>
    <dgm:cxn modelId="{893ACAC0-7BB9-4B55-BC2F-026818EE7763}" type="presOf" srcId="{B2D71556-DF01-4815-AF42-9F2B69AA7F13}" destId="{03857B75-8BEC-4ADA-9D48-B134456F901F}" srcOrd="0" destOrd="0" presId="urn:microsoft.com/office/officeart/2005/8/layout/process1"/>
    <dgm:cxn modelId="{975F6CE6-7136-402B-839A-E7842158C346}" srcId="{8B847629-2D8F-44F4-A320-6BEF293F2F18}" destId="{C046134C-9497-41A1-8089-6D56BC154CE7}" srcOrd="2" destOrd="0" parTransId="{390E23A0-2C6D-4075-9D7A-EA1CA9C966FD}" sibTransId="{31B6FAE4-4E32-4117-B8CD-267FD7B98F88}"/>
    <dgm:cxn modelId="{8B5EB7ED-F49F-448E-8573-A141D8A33E4D}" type="presOf" srcId="{2F19EE26-101C-4A57-AB01-2FAEDD10D715}" destId="{D9514A1C-93BB-47A6-B7A9-2D076DFD4287}" srcOrd="0" destOrd="0" presId="urn:microsoft.com/office/officeart/2005/8/layout/process1"/>
    <dgm:cxn modelId="{7FE479F7-2B3C-431E-A179-74C3E3646384}" srcId="{8B847629-2D8F-44F4-A320-6BEF293F2F18}" destId="{E665B8B0-914E-4036-884C-26A93BA767F9}" srcOrd="3" destOrd="0" parTransId="{254D4C2C-1238-452E-AE66-27ADDADC0C32}" sibTransId="{2907AB27-D81E-4382-B3D3-EBE9ED99BDAB}"/>
    <dgm:cxn modelId="{40558455-1D1A-4618-9E2E-F12A46C438F4}" type="presParOf" srcId="{34EA061F-C227-47D5-B76E-6FB2E72B85BF}" destId="{2F01BEDC-1AB7-49E8-BFDA-E02595D1801D}" srcOrd="0" destOrd="0" presId="urn:microsoft.com/office/officeart/2005/8/layout/process1"/>
    <dgm:cxn modelId="{F3738E60-2E7C-4C79-94CC-5E79CB69635D}" type="presParOf" srcId="{34EA061F-C227-47D5-B76E-6FB2E72B85BF}" destId="{1980F7C7-1CD7-415C-8AD3-ED1E81773BE4}" srcOrd="1" destOrd="0" presId="urn:microsoft.com/office/officeart/2005/8/layout/process1"/>
    <dgm:cxn modelId="{A33487D9-30AA-440D-B870-EF71A14E83BA}" type="presParOf" srcId="{1980F7C7-1CD7-415C-8AD3-ED1E81773BE4}" destId="{F8311E77-EC4D-4F4F-B4E9-49F58A9C1C0E}" srcOrd="0" destOrd="0" presId="urn:microsoft.com/office/officeart/2005/8/layout/process1"/>
    <dgm:cxn modelId="{C669D7C6-F74A-4F5F-9FD8-18793D3A5FDD}" type="presParOf" srcId="{34EA061F-C227-47D5-B76E-6FB2E72B85BF}" destId="{B3FCD189-C571-4BD9-9412-5EE694A15508}" srcOrd="2" destOrd="0" presId="urn:microsoft.com/office/officeart/2005/8/layout/process1"/>
    <dgm:cxn modelId="{CE0CA313-F348-4FCD-88CA-545931096C74}" type="presParOf" srcId="{34EA061F-C227-47D5-B76E-6FB2E72B85BF}" destId="{03857B75-8BEC-4ADA-9D48-B134456F901F}" srcOrd="3" destOrd="0" presId="urn:microsoft.com/office/officeart/2005/8/layout/process1"/>
    <dgm:cxn modelId="{012E4745-36F1-43BD-A947-35900BE9B001}" type="presParOf" srcId="{03857B75-8BEC-4ADA-9D48-B134456F901F}" destId="{9413CF6A-8F6C-478F-9B40-76615432B9AD}" srcOrd="0" destOrd="0" presId="urn:microsoft.com/office/officeart/2005/8/layout/process1"/>
    <dgm:cxn modelId="{3595BA40-7DB9-4E71-AAE6-591281132910}" type="presParOf" srcId="{34EA061F-C227-47D5-B76E-6FB2E72B85BF}" destId="{27F876D7-6051-4923-AEE0-9E918B8A0E28}" srcOrd="4" destOrd="0" presId="urn:microsoft.com/office/officeart/2005/8/layout/process1"/>
    <dgm:cxn modelId="{ABA22A74-8EBD-4110-ACFE-77843A0C06E4}" type="presParOf" srcId="{34EA061F-C227-47D5-B76E-6FB2E72B85BF}" destId="{47A1E2D0-E45B-4A7A-BDAD-E3ECB393CE24}" srcOrd="5" destOrd="0" presId="urn:microsoft.com/office/officeart/2005/8/layout/process1"/>
    <dgm:cxn modelId="{51C7F7A7-7A1C-4085-95EF-BB375AA3A2EE}" type="presParOf" srcId="{47A1E2D0-E45B-4A7A-BDAD-E3ECB393CE24}" destId="{9C17F744-9A91-4357-83D1-CC65F605E936}" srcOrd="0" destOrd="0" presId="urn:microsoft.com/office/officeart/2005/8/layout/process1"/>
    <dgm:cxn modelId="{9A32BB95-EC92-4878-BE4F-D12517174B91}" type="presParOf" srcId="{34EA061F-C227-47D5-B76E-6FB2E72B85BF}" destId="{0ADCAD37-9CB2-4C56-BF7B-BBAB4850851F}" srcOrd="6" destOrd="0" presId="urn:microsoft.com/office/officeart/2005/8/layout/process1"/>
    <dgm:cxn modelId="{7A50B17A-10F4-4ED6-8348-9B736FD29DE7}" type="presParOf" srcId="{34EA061F-C227-47D5-B76E-6FB2E72B85BF}" destId="{5F190A71-8387-467E-917C-7AFC55439298}" srcOrd="7" destOrd="0" presId="urn:microsoft.com/office/officeart/2005/8/layout/process1"/>
    <dgm:cxn modelId="{4F3E0606-522D-4FC1-9B71-FB05A4CF0DBD}" type="presParOf" srcId="{5F190A71-8387-467E-917C-7AFC55439298}" destId="{0C764889-3F0B-4B72-8A72-FF8235E2211C}" srcOrd="0" destOrd="0" presId="urn:microsoft.com/office/officeart/2005/8/layout/process1"/>
    <dgm:cxn modelId="{04950952-F921-4DA7-903B-B6582767F769}" type="presParOf" srcId="{34EA061F-C227-47D5-B76E-6FB2E72B85BF}" destId="{D9514A1C-93BB-47A6-B7A9-2D076DFD4287}" srcOrd="8"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31FE404-B350-4ECF-815C-B6E6666F0DB7}" type="doc">
      <dgm:prSet loTypeId="urn:microsoft.com/office/officeart/2005/8/layout/process2" loCatId="process" qsTypeId="urn:microsoft.com/office/officeart/2005/8/quickstyle/simple3" qsCatId="simple" csTypeId="urn:microsoft.com/office/officeart/2005/8/colors/accent3_2" csCatId="accent3" phldr="1"/>
      <dgm:spPr/>
      <dgm:t>
        <a:bodyPr/>
        <a:lstStyle/>
        <a:p>
          <a:endParaRPr lang="en-GB"/>
        </a:p>
      </dgm:t>
    </dgm:pt>
    <dgm:pt modelId="{67B127D3-49C1-447E-9B38-C6E9CB1B5B80}">
      <dgm:prSet phldrT="[Text]"/>
      <dgm:spPr/>
      <dgm:t>
        <a:bodyPr/>
        <a:lstStyle/>
        <a:p>
          <a:r>
            <a:rPr lang="en-GB"/>
            <a:t>Cutomer Data + Advertising Data</a:t>
          </a:r>
        </a:p>
      </dgm:t>
    </dgm:pt>
    <dgm:pt modelId="{03F39074-8F4A-42DC-B571-0C1DF76A1FFD}" type="sibTrans" cxnId="{5EAB6668-7882-4AF8-84B5-27612EC03F8E}">
      <dgm:prSet/>
      <dgm:spPr/>
      <dgm:t>
        <a:bodyPr/>
        <a:lstStyle/>
        <a:p>
          <a:endParaRPr lang="en-GB"/>
        </a:p>
      </dgm:t>
    </dgm:pt>
    <dgm:pt modelId="{40892915-5C09-49B5-B2D7-67CFF4924BC0}" type="parTrans" cxnId="{5EAB6668-7882-4AF8-84B5-27612EC03F8E}">
      <dgm:prSet/>
      <dgm:spPr/>
      <dgm:t>
        <a:bodyPr/>
        <a:lstStyle/>
        <a:p>
          <a:endParaRPr lang="en-GB"/>
        </a:p>
      </dgm:t>
    </dgm:pt>
    <dgm:pt modelId="{A633FC30-4229-4CEE-95EE-0E5ADAE975CA}">
      <dgm:prSet phldrT="[Text]"/>
      <dgm:spPr/>
      <dgm:t>
        <a:bodyPr/>
        <a:lstStyle/>
        <a:p>
          <a:r>
            <a:rPr lang="en-GB"/>
            <a:t>Joined Dataset (using customer ID)</a:t>
          </a:r>
        </a:p>
      </dgm:t>
    </dgm:pt>
    <dgm:pt modelId="{6F970FCA-AD80-449F-B5E2-824B2B59F3CE}" type="parTrans" cxnId="{761EDFEE-C43A-417F-A376-00CFCE7AA2FF}">
      <dgm:prSet/>
      <dgm:spPr/>
      <dgm:t>
        <a:bodyPr/>
        <a:lstStyle/>
        <a:p>
          <a:endParaRPr lang="en-GB"/>
        </a:p>
      </dgm:t>
    </dgm:pt>
    <dgm:pt modelId="{10E6B16C-5873-4594-B3CF-78B07432F625}" type="sibTrans" cxnId="{761EDFEE-C43A-417F-A376-00CFCE7AA2FF}">
      <dgm:prSet/>
      <dgm:spPr/>
      <dgm:t>
        <a:bodyPr/>
        <a:lstStyle/>
        <a:p>
          <a:endParaRPr lang="en-GB"/>
        </a:p>
      </dgm:t>
    </dgm:pt>
    <dgm:pt modelId="{324D7B20-AA88-4C37-9F31-E2128B2C7A84}">
      <dgm:prSet phldrT="[Text]"/>
      <dgm:spPr/>
      <dgm:t>
        <a:bodyPr/>
        <a:lstStyle/>
        <a:p>
          <a:r>
            <a:rPr lang="en-GB"/>
            <a:t>SQL Queries on Advertising Exposure and Spending</a:t>
          </a:r>
        </a:p>
      </dgm:t>
    </dgm:pt>
    <dgm:pt modelId="{16EFBEAD-4309-4014-A55D-822A45C99408}" type="parTrans" cxnId="{0DD8206D-0FAA-4316-B469-A8828083C8F9}">
      <dgm:prSet/>
      <dgm:spPr/>
      <dgm:t>
        <a:bodyPr/>
        <a:lstStyle/>
        <a:p>
          <a:endParaRPr lang="en-GB"/>
        </a:p>
      </dgm:t>
    </dgm:pt>
    <dgm:pt modelId="{B49BBA15-6D09-4F13-B63E-0EC1A04501D5}" type="sibTrans" cxnId="{0DD8206D-0FAA-4316-B469-A8828083C8F9}">
      <dgm:prSet/>
      <dgm:spPr/>
      <dgm:t>
        <a:bodyPr/>
        <a:lstStyle/>
        <a:p>
          <a:endParaRPr lang="en-GB"/>
        </a:p>
      </dgm:t>
    </dgm:pt>
    <dgm:pt modelId="{EB69D54D-EFBA-4F9F-BDD4-B50C093D6590}">
      <dgm:prSet phldrT="[Text]"/>
      <dgm:spPr/>
      <dgm:t>
        <a:bodyPr/>
        <a:lstStyle/>
        <a:p>
          <a:r>
            <a:rPr lang="en-GB"/>
            <a:t>Identification of Effective Platforms</a:t>
          </a:r>
        </a:p>
      </dgm:t>
    </dgm:pt>
    <dgm:pt modelId="{C0B398CE-8B38-49F3-9854-C8C499522849}" type="parTrans" cxnId="{312B1F44-B658-4A5B-A8CF-0D8F79D1C2BE}">
      <dgm:prSet/>
      <dgm:spPr/>
      <dgm:t>
        <a:bodyPr/>
        <a:lstStyle/>
        <a:p>
          <a:endParaRPr lang="en-GB"/>
        </a:p>
      </dgm:t>
    </dgm:pt>
    <dgm:pt modelId="{A588939A-FBA9-4B0B-A1A2-D23269F9952C}" type="sibTrans" cxnId="{312B1F44-B658-4A5B-A8CF-0D8F79D1C2BE}">
      <dgm:prSet/>
      <dgm:spPr/>
      <dgm:t>
        <a:bodyPr/>
        <a:lstStyle/>
        <a:p>
          <a:endParaRPr lang="en-GB"/>
        </a:p>
      </dgm:t>
    </dgm:pt>
    <dgm:pt modelId="{FB392253-3025-40EC-88D3-F4282C2583CA}" type="pres">
      <dgm:prSet presAssocID="{931FE404-B350-4ECF-815C-B6E6666F0DB7}" presName="linearFlow" presStyleCnt="0">
        <dgm:presLayoutVars>
          <dgm:resizeHandles val="exact"/>
        </dgm:presLayoutVars>
      </dgm:prSet>
      <dgm:spPr/>
    </dgm:pt>
    <dgm:pt modelId="{C2BD6BE3-9652-424B-9624-FCF393147465}" type="pres">
      <dgm:prSet presAssocID="{67B127D3-49C1-447E-9B38-C6E9CB1B5B80}" presName="node" presStyleLbl="node1" presStyleIdx="0" presStyleCnt="4">
        <dgm:presLayoutVars>
          <dgm:bulletEnabled val="1"/>
        </dgm:presLayoutVars>
      </dgm:prSet>
      <dgm:spPr/>
    </dgm:pt>
    <dgm:pt modelId="{D8F8C475-487A-45A2-A973-E99DF367055F}" type="pres">
      <dgm:prSet presAssocID="{03F39074-8F4A-42DC-B571-0C1DF76A1FFD}" presName="sibTrans" presStyleLbl="sibTrans2D1" presStyleIdx="0" presStyleCnt="3"/>
      <dgm:spPr/>
    </dgm:pt>
    <dgm:pt modelId="{A187917D-5C6B-4101-AC74-D8DF206E4040}" type="pres">
      <dgm:prSet presAssocID="{03F39074-8F4A-42DC-B571-0C1DF76A1FFD}" presName="connectorText" presStyleLbl="sibTrans2D1" presStyleIdx="0" presStyleCnt="3"/>
      <dgm:spPr/>
    </dgm:pt>
    <dgm:pt modelId="{D3471265-2075-403A-9977-ED3DEF5699D9}" type="pres">
      <dgm:prSet presAssocID="{A633FC30-4229-4CEE-95EE-0E5ADAE975CA}" presName="node" presStyleLbl="node1" presStyleIdx="1" presStyleCnt="4">
        <dgm:presLayoutVars>
          <dgm:bulletEnabled val="1"/>
        </dgm:presLayoutVars>
      </dgm:prSet>
      <dgm:spPr/>
    </dgm:pt>
    <dgm:pt modelId="{4944097F-645A-46A3-AA6D-D2F477C841AE}" type="pres">
      <dgm:prSet presAssocID="{10E6B16C-5873-4594-B3CF-78B07432F625}" presName="sibTrans" presStyleLbl="sibTrans2D1" presStyleIdx="1" presStyleCnt="3"/>
      <dgm:spPr/>
    </dgm:pt>
    <dgm:pt modelId="{1E32CE94-49FD-4A14-9414-A1653CC15601}" type="pres">
      <dgm:prSet presAssocID="{10E6B16C-5873-4594-B3CF-78B07432F625}" presName="connectorText" presStyleLbl="sibTrans2D1" presStyleIdx="1" presStyleCnt="3"/>
      <dgm:spPr/>
    </dgm:pt>
    <dgm:pt modelId="{57E7BFD8-0912-41F9-A48E-9CE301ED87EE}" type="pres">
      <dgm:prSet presAssocID="{324D7B20-AA88-4C37-9F31-E2128B2C7A84}" presName="node" presStyleLbl="node1" presStyleIdx="2" presStyleCnt="4">
        <dgm:presLayoutVars>
          <dgm:bulletEnabled val="1"/>
        </dgm:presLayoutVars>
      </dgm:prSet>
      <dgm:spPr/>
    </dgm:pt>
    <dgm:pt modelId="{3C12D1BE-ED37-41F3-A4C1-DA2466265C9E}" type="pres">
      <dgm:prSet presAssocID="{B49BBA15-6D09-4F13-B63E-0EC1A04501D5}" presName="sibTrans" presStyleLbl="sibTrans2D1" presStyleIdx="2" presStyleCnt="3"/>
      <dgm:spPr/>
    </dgm:pt>
    <dgm:pt modelId="{9A3C66AA-75A9-4B94-AD0D-0B57EF81870D}" type="pres">
      <dgm:prSet presAssocID="{B49BBA15-6D09-4F13-B63E-0EC1A04501D5}" presName="connectorText" presStyleLbl="sibTrans2D1" presStyleIdx="2" presStyleCnt="3"/>
      <dgm:spPr/>
    </dgm:pt>
    <dgm:pt modelId="{972C3CFE-B0A2-4A7F-A436-FB15BDFAC0FB}" type="pres">
      <dgm:prSet presAssocID="{EB69D54D-EFBA-4F9F-BDD4-B50C093D6590}" presName="node" presStyleLbl="node1" presStyleIdx="3" presStyleCnt="4">
        <dgm:presLayoutVars>
          <dgm:bulletEnabled val="1"/>
        </dgm:presLayoutVars>
      </dgm:prSet>
      <dgm:spPr/>
    </dgm:pt>
  </dgm:ptLst>
  <dgm:cxnLst>
    <dgm:cxn modelId="{BB7F082D-65ED-48CF-A610-6A7C140EA686}" type="presOf" srcId="{324D7B20-AA88-4C37-9F31-E2128B2C7A84}" destId="{57E7BFD8-0912-41F9-A48E-9CE301ED87EE}" srcOrd="0" destOrd="0" presId="urn:microsoft.com/office/officeart/2005/8/layout/process2"/>
    <dgm:cxn modelId="{CD85E95D-FF28-4EE3-A210-D1BDFC4A03E3}" type="presOf" srcId="{B49BBA15-6D09-4F13-B63E-0EC1A04501D5}" destId="{9A3C66AA-75A9-4B94-AD0D-0B57EF81870D}" srcOrd="1" destOrd="0" presId="urn:microsoft.com/office/officeart/2005/8/layout/process2"/>
    <dgm:cxn modelId="{216DE960-F785-4E71-8BF6-260797C0172D}" type="presOf" srcId="{67B127D3-49C1-447E-9B38-C6E9CB1B5B80}" destId="{C2BD6BE3-9652-424B-9624-FCF393147465}" srcOrd="0" destOrd="0" presId="urn:microsoft.com/office/officeart/2005/8/layout/process2"/>
    <dgm:cxn modelId="{75FB0C42-692B-4A9B-A296-566CB260BDA7}" type="presOf" srcId="{A633FC30-4229-4CEE-95EE-0E5ADAE975CA}" destId="{D3471265-2075-403A-9977-ED3DEF5699D9}" srcOrd="0" destOrd="0" presId="urn:microsoft.com/office/officeart/2005/8/layout/process2"/>
    <dgm:cxn modelId="{312B1F44-B658-4A5B-A8CF-0D8F79D1C2BE}" srcId="{931FE404-B350-4ECF-815C-B6E6666F0DB7}" destId="{EB69D54D-EFBA-4F9F-BDD4-B50C093D6590}" srcOrd="3" destOrd="0" parTransId="{C0B398CE-8B38-49F3-9854-C8C499522849}" sibTransId="{A588939A-FBA9-4B0B-A1A2-D23269F9952C}"/>
    <dgm:cxn modelId="{5EAB6668-7882-4AF8-84B5-27612EC03F8E}" srcId="{931FE404-B350-4ECF-815C-B6E6666F0DB7}" destId="{67B127D3-49C1-447E-9B38-C6E9CB1B5B80}" srcOrd="0" destOrd="0" parTransId="{40892915-5C09-49B5-B2D7-67CFF4924BC0}" sibTransId="{03F39074-8F4A-42DC-B571-0C1DF76A1FFD}"/>
    <dgm:cxn modelId="{5A77DD6A-25D8-43AF-98F4-FAA591D51CBE}" type="presOf" srcId="{03F39074-8F4A-42DC-B571-0C1DF76A1FFD}" destId="{D8F8C475-487A-45A2-A973-E99DF367055F}" srcOrd="0" destOrd="0" presId="urn:microsoft.com/office/officeart/2005/8/layout/process2"/>
    <dgm:cxn modelId="{0DD8206D-0FAA-4316-B469-A8828083C8F9}" srcId="{931FE404-B350-4ECF-815C-B6E6666F0DB7}" destId="{324D7B20-AA88-4C37-9F31-E2128B2C7A84}" srcOrd="2" destOrd="0" parTransId="{16EFBEAD-4309-4014-A55D-822A45C99408}" sibTransId="{B49BBA15-6D09-4F13-B63E-0EC1A04501D5}"/>
    <dgm:cxn modelId="{14C9B998-BB4E-437B-A3E9-F1941F5FF51B}" type="presOf" srcId="{03F39074-8F4A-42DC-B571-0C1DF76A1FFD}" destId="{A187917D-5C6B-4101-AC74-D8DF206E4040}" srcOrd="1" destOrd="0" presId="urn:microsoft.com/office/officeart/2005/8/layout/process2"/>
    <dgm:cxn modelId="{501CA69F-F355-437B-9DC0-54369114302A}" type="presOf" srcId="{931FE404-B350-4ECF-815C-B6E6666F0DB7}" destId="{FB392253-3025-40EC-88D3-F4282C2583CA}" srcOrd="0" destOrd="0" presId="urn:microsoft.com/office/officeart/2005/8/layout/process2"/>
    <dgm:cxn modelId="{7D1A94AC-0CFB-4EBC-8FA0-2A9F69844DF1}" type="presOf" srcId="{10E6B16C-5873-4594-B3CF-78B07432F625}" destId="{1E32CE94-49FD-4A14-9414-A1653CC15601}" srcOrd="1" destOrd="0" presId="urn:microsoft.com/office/officeart/2005/8/layout/process2"/>
    <dgm:cxn modelId="{893391DC-0323-4581-9F5C-5C9530381CD1}" type="presOf" srcId="{EB69D54D-EFBA-4F9F-BDD4-B50C093D6590}" destId="{972C3CFE-B0A2-4A7F-A436-FB15BDFAC0FB}" srcOrd="0" destOrd="0" presId="urn:microsoft.com/office/officeart/2005/8/layout/process2"/>
    <dgm:cxn modelId="{761EDFEE-C43A-417F-A376-00CFCE7AA2FF}" srcId="{931FE404-B350-4ECF-815C-B6E6666F0DB7}" destId="{A633FC30-4229-4CEE-95EE-0E5ADAE975CA}" srcOrd="1" destOrd="0" parTransId="{6F970FCA-AD80-449F-B5E2-824B2B59F3CE}" sibTransId="{10E6B16C-5873-4594-B3CF-78B07432F625}"/>
    <dgm:cxn modelId="{B3C051FC-9DEC-4A37-89B7-15283175D838}" type="presOf" srcId="{10E6B16C-5873-4594-B3CF-78B07432F625}" destId="{4944097F-645A-46A3-AA6D-D2F477C841AE}" srcOrd="0" destOrd="0" presId="urn:microsoft.com/office/officeart/2005/8/layout/process2"/>
    <dgm:cxn modelId="{6B35ECFC-9745-45A4-907C-4E2D4DF7692A}" type="presOf" srcId="{B49BBA15-6D09-4F13-B63E-0EC1A04501D5}" destId="{3C12D1BE-ED37-41F3-A4C1-DA2466265C9E}" srcOrd="0" destOrd="0" presId="urn:microsoft.com/office/officeart/2005/8/layout/process2"/>
    <dgm:cxn modelId="{FF76E87B-24E5-4018-BFD3-3B461EA4205B}" type="presParOf" srcId="{FB392253-3025-40EC-88D3-F4282C2583CA}" destId="{C2BD6BE3-9652-424B-9624-FCF393147465}" srcOrd="0" destOrd="0" presId="urn:microsoft.com/office/officeart/2005/8/layout/process2"/>
    <dgm:cxn modelId="{EE506654-8789-4143-88A0-DB63F7C5CF98}" type="presParOf" srcId="{FB392253-3025-40EC-88D3-F4282C2583CA}" destId="{D8F8C475-487A-45A2-A973-E99DF367055F}" srcOrd="1" destOrd="0" presId="urn:microsoft.com/office/officeart/2005/8/layout/process2"/>
    <dgm:cxn modelId="{483FDE93-612C-4768-B4A8-D38CF66BD4BE}" type="presParOf" srcId="{D8F8C475-487A-45A2-A973-E99DF367055F}" destId="{A187917D-5C6B-4101-AC74-D8DF206E4040}" srcOrd="0" destOrd="0" presId="urn:microsoft.com/office/officeart/2005/8/layout/process2"/>
    <dgm:cxn modelId="{0E87340A-5016-4547-BC7D-1F0F7D56370B}" type="presParOf" srcId="{FB392253-3025-40EC-88D3-F4282C2583CA}" destId="{D3471265-2075-403A-9977-ED3DEF5699D9}" srcOrd="2" destOrd="0" presId="urn:microsoft.com/office/officeart/2005/8/layout/process2"/>
    <dgm:cxn modelId="{CA06A2CD-1486-47A4-B4B3-AC9041CBF7C2}" type="presParOf" srcId="{FB392253-3025-40EC-88D3-F4282C2583CA}" destId="{4944097F-645A-46A3-AA6D-D2F477C841AE}" srcOrd="3" destOrd="0" presId="urn:microsoft.com/office/officeart/2005/8/layout/process2"/>
    <dgm:cxn modelId="{F6A4D3D0-3EF4-4482-9029-F479F28B1251}" type="presParOf" srcId="{4944097F-645A-46A3-AA6D-D2F477C841AE}" destId="{1E32CE94-49FD-4A14-9414-A1653CC15601}" srcOrd="0" destOrd="0" presId="urn:microsoft.com/office/officeart/2005/8/layout/process2"/>
    <dgm:cxn modelId="{22FEFEBC-7C51-4BC1-92D0-291EF1541970}" type="presParOf" srcId="{FB392253-3025-40EC-88D3-F4282C2583CA}" destId="{57E7BFD8-0912-41F9-A48E-9CE301ED87EE}" srcOrd="4" destOrd="0" presId="urn:microsoft.com/office/officeart/2005/8/layout/process2"/>
    <dgm:cxn modelId="{D706984F-2C8D-41C4-A0C0-FD398C7564C6}" type="presParOf" srcId="{FB392253-3025-40EC-88D3-F4282C2583CA}" destId="{3C12D1BE-ED37-41F3-A4C1-DA2466265C9E}" srcOrd="5" destOrd="0" presId="urn:microsoft.com/office/officeart/2005/8/layout/process2"/>
    <dgm:cxn modelId="{FE5BB7D9-4461-48D4-BB04-EB30E555B924}" type="presParOf" srcId="{3C12D1BE-ED37-41F3-A4C1-DA2466265C9E}" destId="{9A3C66AA-75A9-4B94-AD0D-0B57EF81870D}" srcOrd="0" destOrd="0" presId="urn:microsoft.com/office/officeart/2005/8/layout/process2"/>
    <dgm:cxn modelId="{1B1B461B-ECCD-4FC5-86A3-08143B8E50A8}" type="presParOf" srcId="{FB392253-3025-40EC-88D3-F4282C2583CA}" destId="{972C3CFE-B0A2-4A7F-A436-FB15BDFAC0FB}" srcOrd="6"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72C5B3-8E9C-418A-AEE2-3FA05BF63CDF}">
      <dsp:nvSpPr>
        <dsp:cNvPr id="0" name=""/>
        <dsp:cNvSpPr/>
      </dsp:nvSpPr>
      <dsp:spPr>
        <a:xfrm>
          <a:off x="0" y="2245"/>
          <a:ext cx="5715000" cy="113804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76FF4F-ECE8-496F-B019-5E078F1AD06E}">
      <dsp:nvSpPr>
        <dsp:cNvPr id="0" name=""/>
        <dsp:cNvSpPr/>
      </dsp:nvSpPr>
      <dsp:spPr>
        <a:xfrm>
          <a:off x="344258" y="258305"/>
          <a:ext cx="625924" cy="62592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C1DAD85-624D-4B39-8F4D-C2AA973F55CF}">
      <dsp:nvSpPr>
        <dsp:cNvPr id="0" name=""/>
        <dsp:cNvSpPr/>
      </dsp:nvSpPr>
      <dsp:spPr>
        <a:xfrm>
          <a:off x="1314440" y="2245"/>
          <a:ext cx="4400559" cy="1138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443" tIns="120443" rIns="120443" bIns="120443" numCol="1" spcCol="1270" anchor="ctr" anchorCtr="0">
          <a:noAutofit/>
        </a:bodyPr>
        <a:lstStyle/>
        <a:p>
          <a:pPr marL="0" lvl="0" indent="0" algn="l" defTabSz="977900">
            <a:lnSpc>
              <a:spcPct val="90000"/>
            </a:lnSpc>
            <a:spcBef>
              <a:spcPct val="0"/>
            </a:spcBef>
            <a:spcAft>
              <a:spcPct val="35000"/>
            </a:spcAft>
            <a:buNone/>
          </a:pPr>
          <a:r>
            <a:rPr lang="en-GB" sz="2200" kern="1200" dirty="0"/>
            <a:t>Limited understanding of customer demographics </a:t>
          </a:r>
          <a:endParaRPr lang="en-US" sz="2200" kern="1200" dirty="0"/>
        </a:p>
      </dsp:txBody>
      <dsp:txXfrm>
        <a:off x="1314440" y="2245"/>
        <a:ext cx="4400559" cy="1138044"/>
      </dsp:txXfrm>
    </dsp:sp>
    <dsp:sp modelId="{40669BCB-6E2C-45BA-9A08-8BC092A76D6C}">
      <dsp:nvSpPr>
        <dsp:cNvPr id="0" name=""/>
        <dsp:cNvSpPr/>
      </dsp:nvSpPr>
      <dsp:spPr>
        <a:xfrm>
          <a:off x="0" y="1424800"/>
          <a:ext cx="5715000" cy="113804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10C2A2-4BBB-414B-9E0E-B9C0C4AD2C14}">
      <dsp:nvSpPr>
        <dsp:cNvPr id="0" name=""/>
        <dsp:cNvSpPr/>
      </dsp:nvSpPr>
      <dsp:spPr>
        <a:xfrm>
          <a:off x="344258" y="1680860"/>
          <a:ext cx="625924" cy="62592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47C3668-E2B3-41EB-AE53-F34D4B194990}">
      <dsp:nvSpPr>
        <dsp:cNvPr id="0" name=""/>
        <dsp:cNvSpPr/>
      </dsp:nvSpPr>
      <dsp:spPr>
        <a:xfrm>
          <a:off x="1314440" y="1424800"/>
          <a:ext cx="4400559" cy="1138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443" tIns="120443" rIns="120443" bIns="120443" numCol="1" spcCol="1270" anchor="ctr" anchorCtr="0">
          <a:noAutofit/>
        </a:bodyPr>
        <a:lstStyle/>
        <a:p>
          <a:pPr marL="0" lvl="0" indent="0" algn="l" defTabSz="977900">
            <a:lnSpc>
              <a:spcPct val="90000"/>
            </a:lnSpc>
            <a:spcBef>
              <a:spcPct val="0"/>
            </a:spcBef>
            <a:spcAft>
              <a:spcPct val="35000"/>
            </a:spcAft>
            <a:buNone/>
          </a:pPr>
          <a:r>
            <a:rPr lang="en-GB" sz="2200" kern="1200" dirty="0"/>
            <a:t>Unclear advertising channel effectiveness</a:t>
          </a:r>
          <a:endParaRPr lang="en-US" sz="2200" kern="1200" dirty="0"/>
        </a:p>
      </dsp:txBody>
      <dsp:txXfrm>
        <a:off x="1314440" y="1424800"/>
        <a:ext cx="4400559" cy="1138044"/>
      </dsp:txXfrm>
    </dsp:sp>
    <dsp:sp modelId="{F306BF7F-3267-4D17-B6FD-B2AFD1B75231}">
      <dsp:nvSpPr>
        <dsp:cNvPr id="0" name=""/>
        <dsp:cNvSpPr/>
      </dsp:nvSpPr>
      <dsp:spPr>
        <a:xfrm>
          <a:off x="0" y="2847355"/>
          <a:ext cx="5715000" cy="113804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B8A7AB2-B193-40E0-B416-D3F014718DC9}">
      <dsp:nvSpPr>
        <dsp:cNvPr id="0" name=""/>
        <dsp:cNvSpPr/>
      </dsp:nvSpPr>
      <dsp:spPr>
        <a:xfrm>
          <a:off x="344258" y="3103415"/>
          <a:ext cx="625924" cy="62592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D427638-E77C-422F-A6D4-05B0491CDDF1}">
      <dsp:nvSpPr>
        <dsp:cNvPr id="0" name=""/>
        <dsp:cNvSpPr/>
      </dsp:nvSpPr>
      <dsp:spPr>
        <a:xfrm>
          <a:off x="1314440" y="2847355"/>
          <a:ext cx="4400559" cy="1138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443" tIns="120443" rIns="120443" bIns="120443" numCol="1" spcCol="1270" anchor="ctr" anchorCtr="0">
          <a:noAutofit/>
        </a:bodyPr>
        <a:lstStyle/>
        <a:p>
          <a:pPr marL="0" lvl="0" indent="0" algn="l" defTabSz="977900">
            <a:lnSpc>
              <a:spcPct val="90000"/>
            </a:lnSpc>
            <a:spcBef>
              <a:spcPct val="0"/>
            </a:spcBef>
            <a:spcAft>
              <a:spcPct val="35000"/>
            </a:spcAft>
            <a:buNone/>
          </a:pPr>
          <a:r>
            <a:rPr lang="en-GB" sz="2200" kern="1200" dirty="0"/>
            <a:t>Need for targeted marketing &amp; optimal spend </a:t>
          </a:r>
          <a:endParaRPr lang="en-US" sz="2200" kern="1200" dirty="0"/>
        </a:p>
      </dsp:txBody>
      <dsp:txXfrm>
        <a:off x="1314440" y="2847355"/>
        <a:ext cx="4400559" cy="1138044"/>
      </dsp:txXfrm>
    </dsp:sp>
    <dsp:sp modelId="{DF09BA05-DC95-44B5-8A99-4CCBB8D13B3A}">
      <dsp:nvSpPr>
        <dsp:cNvPr id="0" name=""/>
        <dsp:cNvSpPr/>
      </dsp:nvSpPr>
      <dsp:spPr>
        <a:xfrm>
          <a:off x="0" y="4269910"/>
          <a:ext cx="5715000" cy="113804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2F03C38-462D-45B3-91DA-4B558BACA258}">
      <dsp:nvSpPr>
        <dsp:cNvPr id="0" name=""/>
        <dsp:cNvSpPr/>
      </dsp:nvSpPr>
      <dsp:spPr>
        <a:xfrm>
          <a:off x="344258" y="4525970"/>
          <a:ext cx="625924" cy="62592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8CF98B0-1622-4A24-A962-0185A1D5AA02}">
      <dsp:nvSpPr>
        <dsp:cNvPr id="0" name=""/>
        <dsp:cNvSpPr/>
      </dsp:nvSpPr>
      <dsp:spPr>
        <a:xfrm>
          <a:off x="1314440" y="4269910"/>
          <a:ext cx="4400559" cy="1138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443" tIns="120443" rIns="120443" bIns="120443" numCol="1" spcCol="1270" anchor="ctr" anchorCtr="0">
          <a:noAutofit/>
        </a:bodyPr>
        <a:lstStyle/>
        <a:p>
          <a:pPr marL="0" lvl="0" indent="0" algn="l" defTabSz="977900">
            <a:lnSpc>
              <a:spcPct val="90000"/>
            </a:lnSpc>
            <a:spcBef>
              <a:spcPct val="0"/>
            </a:spcBef>
            <a:spcAft>
              <a:spcPct val="35000"/>
            </a:spcAft>
            <a:buNone/>
          </a:pPr>
          <a:r>
            <a:rPr lang="en-GB" sz="2200" kern="1200" dirty="0"/>
            <a:t>Objective: enable evidence-based decisions.</a:t>
          </a:r>
          <a:endParaRPr lang="en-US" sz="2200" kern="1200" dirty="0"/>
        </a:p>
      </dsp:txBody>
      <dsp:txXfrm>
        <a:off x="1314440" y="4269910"/>
        <a:ext cx="4400559" cy="11380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01BEDC-1AB7-49E8-BFDA-E02595D1801D}">
      <dsp:nvSpPr>
        <dsp:cNvPr id="0" name=""/>
        <dsp:cNvSpPr/>
      </dsp:nvSpPr>
      <dsp:spPr>
        <a:xfrm>
          <a:off x="10435" y="0"/>
          <a:ext cx="1616726" cy="4306187"/>
        </a:xfrm>
        <a:prstGeom prst="roundRect">
          <a:avLst>
            <a:gd name="adj" fmla="val 10000"/>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100000"/>
            </a:lnSpc>
            <a:spcBef>
              <a:spcPct val="0"/>
            </a:spcBef>
            <a:spcAft>
              <a:spcPct val="35000"/>
            </a:spcAft>
            <a:buNone/>
          </a:pPr>
          <a:r>
            <a:rPr lang="en-GB" sz="1600" b="1" i="0" kern="1200" dirty="0">
              <a:latin typeface="Arial" panose="020B0604020202020204" pitchFamily="34" charset="0"/>
              <a:cs typeface="Arial" panose="020B0604020202020204" pitchFamily="34" charset="0"/>
            </a:rPr>
            <a:t>IDENTIFY</a:t>
          </a:r>
        </a:p>
        <a:p>
          <a:pPr marL="0" lvl="0" indent="0" algn="ctr" defTabSz="711200">
            <a:lnSpc>
              <a:spcPct val="100000"/>
            </a:lnSpc>
            <a:spcBef>
              <a:spcPct val="0"/>
            </a:spcBef>
            <a:spcAft>
              <a:spcPct val="35000"/>
            </a:spcAft>
            <a:buNone/>
          </a:pPr>
          <a:endParaRPr lang="en-GB" sz="1600" b="0" i="0" kern="1200" dirty="0">
            <a:latin typeface="Arial" panose="020B0604020202020204" pitchFamily="34" charset="0"/>
            <a:cs typeface="Arial" panose="020B0604020202020204" pitchFamily="34" charset="0"/>
          </a:endParaRPr>
        </a:p>
        <a:p>
          <a:pPr marL="0" lvl="0" indent="0" algn="l" defTabSz="711200">
            <a:lnSpc>
              <a:spcPct val="100000"/>
            </a:lnSpc>
            <a:spcBef>
              <a:spcPct val="0"/>
            </a:spcBef>
            <a:spcAft>
              <a:spcPct val="35000"/>
            </a:spcAft>
            <a:buNone/>
          </a:pPr>
          <a:r>
            <a:rPr lang="en-GB" sz="1600" b="0" i="0" kern="1200" dirty="0">
              <a:latin typeface="Arial" panose="020B0604020202020204" pitchFamily="34" charset="0"/>
              <a:cs typeface="Arial" panose="020B0604020202020204" pitchFamily="34" charset="0"/>
            </a:rPr>
            <a:t>Need to understand customers</a:t>
          </a:r>
        </a:p>
        <a:p>
          <a:pPr marL="0" lvl="0" indent="0" algn="l" defTabSz="711200">
            <a:lnSpc>
              <a:spcPct val="100000"/>
            </a:lnSpc>
            <a:spcBef>
              <a:spcPct val="0"/>
            </a:spcBef>
            <a:spcAft>
              <a:spcPct val="35000"/>
            </a:spcAft>
            <a:buNone/>
          </a:pPr>
          <a:r>
            <a:rPr lang="en-GB" sz="1600" b="0" i="0" kern="1200" dirty="0">
              <a:latin typeface="Arial" panose="020B0604020202020204" pitchFamily="34" charset="0"/>
              <a:cs typeface="Arial" panose="020B0604020202020204" pitchFamily="34" charset="0"/>
            </a:rPr>
            <a:t>Need to evaluate advertising channels</a:t>
          </a:r>
        </a:p>
        <a:p>
          <a:pPr marL="0" lvl="0" indent="0" algn="l" defTabSz="711200">
            <a:lnSpc>
              <a:spcPct val="100000"/>
            </a:lnSpc>
            <a:spcBef>
              <a:spcPct val="0"/>
            </a:spcBef>
            <a:spcAft>
              <a:spcPct val="35000"/>
            </a:spcAft>
            <a:buNone/>
          </a:pPr>
          <a:endParaRPr lang="en-GB" sz="1600" b="0" i="0" kern="1200" dirty="0">
            <a:latin typeface="Arial" panose="020B0604020202020204" pitchFamily="34" charset="0"/>
            <a:cs typeface="Arial" panose="020B0604020202020204" pitchFamily="34" charset="0"/>
          </a:endParaRPr>
        </a:p>
        <a:p>
          <a:pPr marL="0" lvl="0" indent="0" algn="l" defTabSz="711200">
            <a:lnSpc>
              <a:spcPct val="100000"/>
            </a:lnSpc>
            <a:spcBef>
              <a:spcPct val="0"/>
            </a:spcBef>
            <a:spcAft>
              <a:spcPct val="35000"/>
            </a:spcAft>
            <a:buNone/>
          </a:pPr>
          <a:r>
            <a:rPr lang="en-GB" sz="1600" b="0" i="0" kern="1200" dirty="0">
              <a:latin typeface="Arial" panose="020B0604020202020204" pitchFamily="34" charset="0"/>
              <a:cs typeface="Arial" panose="020B0604020202020204" pitchFamily="34" charset="0"/>
            </a:rPr>
            <a:t>Objective: support data‑driven decisions</a:t>
          </a:r>
          <a:endParaRPr lang="en-GB" sz="1600" kern="1200" dirty="0">
            <a:latin typeface="Arial" panose="020B0604020202020204" pitchFamily="34" charset="0"/>
            <a:cs typeface="Arial" panose="020B0604020202020204" pitchFamily="34" charset="0"/>
          </a:endParaRPr>
        </a:p>
        <a:p>
          <a:pPr marL="0" lvl="0" indent="0" algn="ctr" defTabSz="711200">
            <a:lnSpc>
              <a:spcPct val="100000"/>
            </a:lnSpc>
            <a:spcBef>
              <a:spcPct val="0"/>
            </a:spcBef>
            <a:spcAft>
              <a:spcPct val="35000"/>
            </a:spcAft>
            <a:buNone/>
          </a:pPr>
          <a:endParaRPr lang="en-GB" sz="1600" kern="1200" dirty="0">
            <a:latin typeface="Arial" panose="020B0604020202020204" pitchFamily="34" charset="0"/>
            <a:cs typeface="Arial" panose="020B0604020202020204" pitchFamily="34" charset="0"/>
          </a:endParaRPr>
        </a:p>
      </dsp:txBody>
      <dsp:txXfrm>
        <a:off x="57787" y="47352"/>
        <a:ext cx="1522022" cy="4211483"/>
      </dsp:txXfrm>
    </dsp:sp>
    <dsp:sp modelId="{1980F7C7-1CD7-415C-8AD3-ED1E81773BE4}">
      <dsp:nvSpPr>
        <dsp:cNvPr id="0" name=""/>
        <dsp:cNvSpPr/>
      </dsp:nvSpPr>
      <dsp:spPr>
        <a:xfrm>
          <a:off x="1788834" y="1952619"/>
          <a:ext cx="342745" cy="400948"/>
        </a:xfrm>
        <a:prstGeom prst="rightArrow">
          <a:avLst>
            <a:gd name="adj1" fmla="val 60000"/>
            <a:gd name="adj2" fmla="val 50000"/>
          </a:avLst>
        </a:prstGeom>
        <a:gradFill rotWithShape="0">
          <a:gsLst>
            <a:gs pos="0">
              <a:schemeClr val="accent2">
                <a:tint val="60000"/>
                <a:hueOff val="0"/>
                <a:satOff val="0"/>
                <a:lumOff val="0"/>
                <a:alphaOff val="0"/>
                <a:lumMod val="110000"/>
                <a:satMod val="105000"/>
                <a:tint val="67000"/>
              </a:schemeClr>
            </a:gs>
            <a:gs pos="50000">
              <a:schemeClr val="accent2">
                <a:tint val="60000"/>
                <a:hueOff val="0"/>
                <a:satOff val="0"/>
                <a:lumOff val="0"/>
                <a:alphaOff val="0"/>
                <a:lumMod val="105000"/>
                <a:satMod val="103000"/>
                <a:tint val="73000"/>
              </a:schemeClr>
            </a:gs>
            <a:gs pos="100000">
              <a:schemeClr val="accent2">
                <a:tint val="60000"/>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GB" sz="1800" kern="1200"/>
        </a:p>
      </dsp:txBody>
      <dsp:txXfrm>
        <a:off x="1788834" y="2032809"/>
        <a:ext cx="239922" cy="240568"/>
      </dsp:txXfrm>
    </dsp:sp>
    <dsp:sp modelId="{B3FCD189-C571-4BD9-9412-5EE694A15508}">
      <dsp:nvSpPr>
        <dsp:cNvPr id="0" name=""/>
        <dsp:cNvSpPr/>
      </dsp:nvSpPr>
      <dsp:spPr>
        <a:xfrm>
          <a:off x="2273852" y="0"/>
          <a:ext cx="1616726" cy="4306187"/>
        </a:xfrm>
        <a:prstGeom prst="roundRect">
          <a:avLst>
            <a:gd name="adj" fmla="val 10000"/>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100000"/>
            </a:lnSpc>
            <a:spcBef>
              <a:spcPct val="0"/>
            </a:spcBef>
            <a:spcAft>
              <a:spcPct val="35000"/>
            </a:spcAft>
            <a:buNone/>
          </a:pPr>
          <a:endParaRPr lang="en-GB" sz="1600" b="1" i="0" kern="1200" dirty="0">
            <a:latin typeface="Arial" panose="020B0604020202020204" pitchFamily="34" charset="0"/>
            <a:cs typeface="Arial" panose="020B0604020202020204" pitchFamily="34" charset="0"/>
          </a:endParaRPr>
        </a:p>
        <a:p>
          <a:pPr marL="0" lvl="0" indent="0" algn="ctr" defTabSz="711200">
            <a:lnSpc>
              <a:spcPct val="100000"/>
            </a:lnSpc>
            <a:spcBef>
              <a:spcPct val="0"/>
            </a:spcBef>
            <a:spcAft>
              <a:spcPct val="35000"/>
            </a:spcAft>
            <a:buNone/>
          </a:pPr>
          <a:r>
            <a:rPr lang="en-GB" sz="1600" b="1" i="0" kern="1200" dirty="0">
              <a:latin typeface="Arial" panose="020B0604020202020204" pitchFamily="34" charset="0"/>
              <a:cs typeface="Arial" panose="020B0604020202020204" pitchFamily="34" charset="0"/>
            </a:rPr>
            <a:t>DEFINE</a:t>
          </a:r>
          <a:endParaRPr lang="en-GB" sz="1600" b="0" i="0" kern="1200" dirty="0">
            <a:latin typeface="Arial" panose="020B0604020202020204" pitchFamily="34" charset="0"/>
            <a:cs typeface="Arial" panose="020B0604020202020204" pitchFamily="34" charset="0"/>
          </a:endParaRPr>
        </a:p>
        <a:p>
          <a:pPr marL="0" lvl="0" indent="0" algn="l" defTabSz="711200">
            <a:lnSpc>
              <a:spcPct val="100000"/>
            </a:lnSpc>
            <a:spcBef>
              <a:spcPct val="0"/>
            </a:spcBef>
            <a:spcAft>
              <a:spcPct val="35000"/>
            </a:spcAft>
            <a:buNone/>
          </a:pPr>
          <a:endParaRPr lang="en-GB" sz="1600" b="0" i="0" kern="1200" dirty="0">
            <a:latin typeface="Arial" panose="020B0604020202020204" pitchFamily="34" charset="0"/>
            <a:cs typeface="Arial" panose="020B0604020202020204" pitchFamily="34" charset="0"/>
          </a:endParaRPr>
        </a:p>
        <a:p>
          <a:pPr marL="0" lvl="0" indent="0" algn="l" defTabSz="711200">
            <a:lnSpc>
              <a:spcPct val="100000"/>
            </a:lnSpc>
            <a:spcBef>
              <a:spcPct val="0"/>
            </a:spcBef>
            <a:spcAft>
              <a:spcPct val="35000"/>
            </a:spcAft>
            <a:buNone/>
          </a:pPr>
          <a:r>
            <a:rPr lang="en-GB" sz="1600" b="0" i="0" kern="1200" dirty="0">
              <a:latin typeface="Arial" panose="020B0604020202020204" pitchFamily="34" charset="0"/>
              <a:cs typeface="Arial" panose="020B0604020202020204" pitchFamily="34" charset="0"/>
            </a:rPr>
            <a:t>Review customer + advertising datasets</a:t>
          </a:r>
        </a:p>
        <a:p>
          <a:pPr marL="0" lvl="0" indent="0" algn="l" defTabSz="711200">
            <a:lnSpc>
              <a:spcPct val="100000"/>
            </a:lnSpc>
            <a:spcBef>
              <a:spcPct val="0"/>
            </a:spcBef>
            <a:spcAft>
              <a:spcPct val="35000"/>
            </a:spcAft>
            <a:buNone/>
          </a:pPr>
          <a:endParaRPr lang="en-GB" sz="1600" b="0" i="0" kern="1200" dirty="0">
            <a:latin typeface="Arial" panose="020B0604020202020204" pitchFamily="34" charset="0"/>
            <a:cs typeface="Arial" panose="020B0604020202020204" pitchFamily="34" charset="0"/>
          </a:endParaRPr>
        </a:p>
        <a:p>
          <a:pPr marL="0" lvl="0" indent="0" algn="l" defTabSz="711200">
            <a:lnSpc>
              <a:spcPct val="100000"/>
            </a:lnSpc>
            <a:spcBef>
              <a:spcPct val="0"/>
            </a:spcBef>
            <a:spcAft>
              <a:spcPct val="35000"/>
            </a:spcAft>
            <a:buNone/>
          </a:pPr>
          <a:r>
            <a:rPr lang="en-GB" sz="1600" b="0" i="0" kern="1200" dirty="0">
              <a:latin typeface="Arial" panose="020B0604020202020204" pitchFamily="34" charset="0"/>
              <a:cs typeface="Arial" panose="020B0604020202020204" pitchFamily="34" charset="0"/>
            </a:rPr>
            <a:t>Identify key fields</a:t>
          </a:r>
        </a:p>
        <a:p>
          <a:pPr marL="0" lvl="0" indent="0" algn="l" defTabSz="711200">
            <a:lnSpc>
              <a:spcPct val="100000"/>
            </a:lnSpc>
            <a:spcBef>
              <a:spcPct val="0"/>
            </a:spcBef>
            <a:spcAft>
              <a:spcPct val="35000"/>
            </a:spcAft>
            <a:buNone/>
          </a:pPr>
          <a:endParaRPr lang="en-GB" sz="1600" b="0" i="0" kern="1200" dirty="0">
            <a:latin typeface="Arial" panose="020B0604020202020204" pitchFamily="34" charset="0"/>
            <a:cs typeface="Arial" panose="020B0604020202020204" pitchFamily="34" charset="0"/>
          </a:endParaRPr>
        </a:p>
        <a:p>
          <a:pPr marL="0" lvl="0" indent="0" algn="l" defTabSz="711200">
            <a:lnSpc>
              <a:spcPct val="100000"/>
            </a:lnSpc>
            <a:spcBef>
              <a:spcPct val="0"/>
            </a:spcBef>
            <a:spcAft>
              <a:spcPct val="35000"/>
            </a:spcAft>
            <a:buNone/>
          </a:pPr>
          <a:r>
            <a:rPr lang="en-GB" sz="1600" b="0" i="0" kern="1200" dirty="0">
              <a:latin typeface="Arial" panose="020B0604020202020204" pitchFamily="34" charset="0"/>
              <a:cs typeface="Arial" panose="020B0604020202020204" pitchFamily="34" charset="0"/>
            </a:rPr>
            <a:t>Plan tools: Excel, SQL, Tableau</a:t>
          </a:r>
        </a:p>
        <a:p>
          <a:pPr marL="0" lvl="0" indent="0" algn="ctr" defTabSz="711200">
            <a:lnSpc>
              <a:spcPct val="100000"/>
            </a:lnSpc>
            <a:spcBef>
              <a:spcPct val="0"/>
            </a:spcBef>
            <a:spcAft>
              <a:spcPct val="35000"/>
            </a:spcAft>
            <a:buNone/>
          </a:pPr>
          <a:endParaRPr lang="en-GB" sz="1600" kern="1200" dirty="0">
            <a:latin typeface="Arial" panose="020B0604020202020204" pitchFamily="34" charset="0"/>
            <a:cs typeface="Arial" panose="020B0604020202020204" pitchFamily="34" charset="0"/>
          </a:endParaRPr>
        </a:p>
        <a:p>
          <a:pPr marL="0" lvl="0" indent="0" algn="ctr" defTabSz="711200">
            <a:lnSpc>
              <a:spcPct val="100000"/>
            </a:lnSpc>
            <a:spcBef>
              <a:spcPct val="0"/>
            </a:spcBef>
            <a:spcAft>
              <a:spcPct val="35000"/>
            </a:spcAft>
            <a:buNone/>
          </a:pPr>
          <a:endParaRPr lang="en-GB" sz="1600" kern="1200" dirty="0">
            <a:latin typeface="Arial" panose="020B0604020202020204" pitchFamily="34" charset="0"/>
            <a:cs typeface="Arial" panose="020B0604020202020204" pitchFamily="34" charset="0"/>
          </a:endParaRPr>
        </a:p>
      </dsp:txBody>
      <dsp:txXfrm>
        <a:off x="2321204" y="47352"/>
        <a:ext cx="1522022" cy="4211483"/>
      </dsp:txXfrm>
    </dsp:sp>
    <dsp:sp modelId="{03857B75-8BEC-4ADA-9D48-B134456F901F}">
      <dsp:nvSpPr>
        <dsp:cNvPr id="0" name=""/>
        <dsp:cNvSpPr/>
      </dsp:nvSpPr>
      <dsp:spPr>
        <a:xfrm>
          <a:off x="4052251" y="1952619"/>
          <a:ext cx="342745" cy="400948"/>
        </a:xfrm>
        <a:prstGeom prst="rightArrow">
          <a:avLst>
            <a:gd name="adj1" fmla="val 60000"/>
            <a:gd name="adj2" fmla="val 50000"/>
          </a:avLst>
        </a:prstGeom>
        <a:gradFill rotWithShape="0">
          <a:gsLst>
            <a:gs pos="0">
              <a:schemeClr val="accent2">
                <a:tint val="60000"/>
                <a:hueOff val="0"/>
                <a:satOff val="0"/>
                <a:lumOff val="0"/>
                <a:alphaOff val="0"/>
                <a:lumMod val="110000"/>
                <a:satMod val="105000"/>
                <a:tint val="67000"/>
              </a:schemeClr>
            </a:gs>
            <a:gs pos="50000">
              <a:schemeClr val="accent2">
                <a:tint val="60000"/>
                <a:hueOff val="0"/>
                <a:satOff val="0"/>
                <a:lumOff val="0"/>
                <a:alphaOff val="0"/>
                <a:lumMod val="105000"/>
                <a:satMod val="103000"/>
                <a:tint val="73000"/>
              </a:schemeClr>
            </a:gs>
            <a:gs pos="100000">
              <a:schemeClr val="accent2">
                <a:tint val="60000"/>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GB" sz="1800" kern="1200"/>
        </a:p>
      </dsp:txBody>
      <dsp:txXfrm>
        <a:off x="4052251" y="2032809"/>
        <a:ext cx="239922" cy="240568"/>
      </dsp:txXfrm>
    </dsp:sp>
    <dsp:sp modelId="{27F876D7-6051-4923-AEE0-9E918B8A0E28}">
      <dsp:nvSpPr>
        <dsp:cNvPr id="0" name=""/>
        <dsp:cNvSpPr/>
      </dsp:nvSpPr>
      <dsp:spPr>
        <a:xfrm>
          <a:off x="4537269" y="0"/>
          <a:ext cx="1616726" cy="4306187"/>
        </a:xfrm>
        <a:prstGeom prst="roundRect">
          <a:avLst>
            <a:gd name="adj" fmla="val 10000"/>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100000"/>
            </a:lnSpc>
            <a:spcBef>
              <a:spcPct val="0"/>
            </a:spcBef>
            <a:spcAft>
              <a:spcPct val="35000"/>
            </a:spcAft>
            <a:buNone/>
          </a:pPr>
          <a:endParaRPr lang="en-GB" sz="1600" b="1" i="0" kern="1200" dirty="0">
            <a:latin typeface="Arial" panose="020B0604020202020204" pitchFamily="34" charset="0"/>
            <a:cs typeface="Arial" panose="020B0604020202020204" pitchFamily="34" charset="0"/>
          </a:endParaRPr>
        </a:p>
        <a:p>
          <a:pPr marL="0" lvl="0" indent="0" algn="ctr" defTabSz="711200">
            <a:lnSpc>
              <a:spcPct val="100000"/>
            </a:lnSpc>
            <a:spcBef>
              <a:spcPct val="0"/>
            </a:spcBef>
            <a:spcAft>
              <a:spcPct val="35000"/>
            </a:spcAft>
            <a:buNone/>
          </a:pPr>
          <a:endParaRPr lang="en-GB" sz="1600" b="1" i="0" kern="1200" dirty="0">
            <a:latin typeface="Arial" panose="020B0604020202020204" pitchFamily="34" charset="0"/>
            <a:cs typeface="Arial" panose="020B0604020202020204" pitchFamily="34" charset="0"/>
          </a:endParaRPr>
        </a:p>
        <a:p>
          <a:pPr marL="0" lvl="0" indent="0" algn="ctr" defTabSz="711200">
            <a:lnSpc>
              <a:spcPct val="100000"/>
            </a:lnSpc>
            <a:spcBef>
              <a:spcPct val="0"/>
            </a:spcBef>
            <a:spcAft>
              <a:spcPct val="35000"/>
            </a:spcAft>
            <a:buNone/>
          </a:pPr>
          <a:r>
            <a:rPr lang="en-GB" sz="1600" b="1" i="0" kern="1200" dirty="0">
              <a:latin typeface="Arial" panose="020B0604020202020204" pitchFamily="34" charset="0"/>
              <a:cs typeface="Arial" panose="020B0604020202020204" pitchFamily="34" charset="0"/>
            </a:rPr>
            <a:t>EXPLORE</a:t>
          </a:r>
          <a:endParaRPr lang="en-GB" sz="1600" b="0" i="0" kern="1200" dirty="0">
            <a:latin typeface="Arial" panose="020B0604020202020204" pitchFamily="34" charset="0"/>
            <a:cs typeface="Arial" panose="020B0604020202020204" pitchFamily="34" charset="0"/>
          </a:endParaRPr>
        </a:p>
        <a:p>
          <a:pPr marL="0" lvl="0" indent="0" algn="ctr" defTabSz="711200">
            <a:lnSpc>
              <a:spcPct val="100000"/>
            </a:lnSpc>
            <a:spcBef>
              <a:spcPct val="0"/>
            </a:spcBef>
            <a:spcAft>
              <a:spcPct val="35000"/>
            </a:spcAft>
            <a:buNone/>
          </a:pPr>
          <a:endParaRPr lang="en-GB" sz="1600" b="0" i="0" kern="1200" dirty="0">
            <a:latin typeface="Arial" panose="020B0604020202020204" pitchFamily="34" charset="0"/>
            <a:cs typeface="Arial" panose="020B0604020202020204" pitchFamily="34" charset="0"/>
          </a:endParaRPr>
        </a:p>
        <a:p>
          <a:pPr marL="0" lvl="0" indent="0" algn="l" defTabSz="711200">
            <a:lnSpc>
              <a:spcPct val="100000"/>
            </a:lnSpc>
            <a:spcBef>
              <a:spcPct val="0"/>
            </a:spcBef>
            <a:spcAft>
              <a:spcPct val="35000"/>
            </a:spcAft>
            <a:buNone/>
          </a:pPr>
          <a:r>
            <a:rPr lang="en-GB" sz="1600" b="0" i="0" kern="1200" dirty="0">
              <a:latin typeface="Arial" panose="020B0604020202020204" pitchFamily="34" charset="0"/>
              <a:cs typeface="Arial" panose="020B0604020202020204" pitchFamily="34" charset="0"/>
            </a:rPr>
            <a:t>Clean data in Excel</a:t>
          </a:r>
        </a:p>
        <a:p>
          <a:pPr marL="0" lvl="0" indent="0" algn="ctr" defTabSz="711200">
            <a:lnSpc>
              <a:spcPct val="100000"/>
            </a:lnSpc>
            <a:spcBef>
              <a:spcPct val="0"/>
            </a:spcBef>
            <a:spcAft>
              <a:spcPct val="35000"/>
            </a:spcAft>
            <a:buNone/>
          </a:pPr>
          <a:endParaRPr lang="en-GB" sz="1600" b="0" i="0" kern="1200" dirty="0">
            <a:latin typeface="Arial" panose="020B0604020202020204" pitchFamily="34" charset="0"/>
            <a:cs typeface="Arial" panose="020B0604020202020204" pitchFamily="34" charset="0"/>
          </a:endParaRPr>
        </a:p>
        <a:p>
          <a:pPr marL="0" lvl="0" indent="0" algn="l" defTabSz="711200">
            <a:lnSpc>
              <a:spcPct val="100000"/>
            </a:lnSpc>
            <a:spcBef>
              <a:spcPct val="0"/>
            </a:spcBef>
            <a:spcAft>
              <a:spcPct val="35000"/>
            </a:spcAft>
            <a:buNone/>
          </a:pPr>
          <a:r>
            <a:rPr lang="en-GB" sz="1600" b="0" i="0" kern="1200" dirty="0">
              <a:latin typeface="Arial" panose="020B0604020202020204" pitchFamily="34" charset="0"/>
              <a:cs typeface="Arial" panose="020B0604020202020204" pitchFamily="34" charset="0"/>
            </a:rPr>
            <a:t>Join datasets using SQL</a:t>
          </a:r>
        </a:p>
        <a:p>
          <a:pPr marL="0" lvl="0" indent="0" algn="ctr" defTabSz="711200">
            <a:lnSpc>
              <a:spcPct val="100000"/>
            </a:lnSpc>
            <a:spcBef>
              <a:spcPct val="0"/>
            </a:spcBef>
            <a:spcAft>
              <a:spcPct val="35000"/>
            </a:spcAft>
            <a:buNone/>
          </a:pPr>
          <a:endParaRPr lang="en-GB" sz="1600" b="0" i="0" kern="1200" dirty="0">
            <a:latin typeface="Arial" panose="020B0604020202020204" pitchFamily="34" charset="0"/>
            <a:cs typeface="Arial" panose="020B0604020202020204" pitchFamily="34" charset="0"/>
          </a:endParaRPr>
        </a:p>
        <a:p>
          <a:pPr marL="0" lvl="0" indent="0" algn="l" defTabSz="711200">
            <a:lnSpc>
              <a:spcPct val="100000"/>
            </a:lnSpc>
            <a:spcBef>
              <a:spcPct val="0"/>
            </a:spcBef>
            <a:spcAft>
              <a:spcPct val="35000"/>
            </a:spcAft>
            <a:buNone/>
          </a:pPr>
          <a:r>
            <a:rPr lang="en-GB" sz="1600" b="0" i="0" kern="1200" dirty="0">
              <a:latin typeface="Arial" panose="020B0604020202020204" pitchFamily="34" charset="0"/>
              <a:cs typeface="Arial" panose="020B0604020202020204" pitchFamily="34" charset="0"/>
            </a:rPr>
            <a:t>Run queries on exposure &amp; spending</a:t>
          </a:r>
        </a:p>
        <a:p>
          <a:pPr marL="0" lvl="0" indent="0" algn="ctr" defTabSz="711200">
            <a:lnSpc>
              <a:spcPct val="100000"/>
            </a:lnSpc>
            <a:spcBef>
              <a:spcPct val="0"/>
            </a:spcBef>
            <a:spcAft>
              <a:spcPct val="35000"/>
            </a:spcAft>
            <a:buNone/>
          </a:pPr>
          <a:endParaRPr lang="en-GB" sz="1600" b="0" i="0" kern="1200" dirty="0">
            <a:latin typeface="Arial" panose="020B0604020202020204" pitchFamily="34" charset="0"/>
            <a:cs typeface="Arial" panose="020B0604020202020204" pitchFamily="34" charset="0"/>
          </a:endParaRPr>
        </a:p>
        <a:p>
          <a:pPr marL="0" lvl="0" indent="0" algn="l" defTabSz="711200">
            <a:lnSpc>
              <a:spcPct val="100000"/>
            </a:lnSpc>
            <a:spcBef>
              <a:spcPct val="0"/>
            </a:spcBef>
            <a:spcAft>
              <a:spcPct val="35000"/>
            </a:spcAft>
            <a:buNone/>
          </a:pPr>
          <a:r>
            <a:rPr lang="en-GB" sz="1600" b="0" i="0" kern="1200" dirty="0">
              <a:latin typeface="Arial" panose="020B0604020202020204" pitchFamily="34" charset="0"/>
              <a:cs typeface="Arial" panose="020B0604020202020204" pitchFamily="34" charset="0"/>
            </a:rPr>
            <a:t>Build initial Tableau visuals</a:t>
          </a:r>
        </a:p>
        <a:p>
          <a:pPr marL="0" lvl="0" indent="0" algn="ctr" defTabSz="711200">
            <a:lnSpc>
              <a:spcPct val="100000"/>
            </a:lnSpc>
            <a:spcBef>
              <a:spcPct val="0"/>
            </a:spcBef>
            <a:spcAft>
              <a:spcPct val="35000"/>
            </a:spcAft>
            <a:buNone/>
          </a:pPr>
          <a:endParaRPr lang="en-GB" sz="1600" kern="1200" dirty="0">
            <a:latin typeface="Arial" panose="020B0604020202020204" pitchFamily="34" charset="0"/>
            <a:cs typeface="Arial" panose="020B0604020202020204" pitchFamily="34" charset="0"/>
          </a:endParaRPr>
        </a:p>
        <a:p>
          <a:pPr marL="0" lvl="0" indent="0" algn="ctr" defTabSz="711200">
            <a:lnSpc>
              <a:spcPct val="100000"/>
            </a:lnSpc>
            <a:spcBef>
              <a:spcPct val="0"/>
            </a:spcBef>
            <a:spcAft>
              <a:spcPct val="35000"/>
            </a:spcAft>
            <a:buNone/>
          </a:pPr>
          <a:endParaRPr lang="en-GB" sz="1600" kern="1200" dirty="0">
            <a:latin typeface="Arial" panose="020B0604020202020204" pitchFamily="34" charset="0"/>
            <a:cs typeface="Arial" panose="020B0604020202020204" pitchFamily="34" charset="0"/>
          </a:endParaRPr>
        </a:p>
      </dsp:txBody>
      <dsp:txXfrm>
        <a:off x="4584621" y="47352"/>
        <a:ext cx="1522022" cy="4211483"/>
      </dsp:txXfrm>
    </dsp:sp>
    <dsp:sp modelId="{47A1E2D0-E45B-4A7A-BDAD-E3ECB393CE24}">
      <dsp:nvSpPr>
        <dsp:cNvPr id="0" name=""/>
        <dsp:cNvSpPr/>
      </dsp:nvSpPr>
      <dsp:spPr>
        <a:xfrm>
          <a:off x="6315668" y="1952619"/>
          <a:ext cx="342745" cy="400948"/>
        </a:xfrm>
        <a:prstGeom prst="rightArrow">
          <a:avLst>
            <a:gd name="adj1" fmla="val 60000"/>
            <a:gd name="adj2" fmla="val 50000"/>
          </a:avLst>
        </a:prstGeom>
        <a:gradFill rotWithShape="0">
          <a:gsLst>
            <a:gs pos="0">
              <a:schemeClr val="accent2">
                <a:tint val="60000"/>
                <a:hueOff val="0"/>
                <a:satOff val="0"/>
                <a:lumOff val="0"/>
                <a:alphaOff val="0"/>
                <a:lumMod val="110000"/>
                <a:satMod val="105000"/>
                <a:tint val="67000"/>
              </a:schemeClr>
            </a:gs>
            <a:gs pos="50000">
              <a:schemeClr val="accent2">
                <a:tint val="60000"/>
                <a:hueOff val="0"/>
                <a:satOff val="0"/>
                <a:lumOff val="0"/>
                <a:alphaOff val="0"/>
                <a:lumMod val="105000"/>
                <a:satMod val="103000"/>
                <a:tint val="73000"/>
              </a:schemeClr>
            </a:gs>
            <a:gs pos="100000">
              <a:schemeClr val="accent2">
                <a:tint val="60000"/>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GB" sz="1800" kern="1200"/>
        </a:p>
      </dsp:txBody>
      <dsp:txXfrm>
        <a:off x="6315668" y="2032809"/>
        <a:ext cx="239922" cy="240568"/>
      </dsp:txXfrm>
    </dsp:sp>
    <dsp:sp modelId="{0ADCAD37-9CB2-4C56-BF7B-BBAB4850851F}">
      <dsp:nvSpPr>
        <dsp:cNvPr id="0" name=""/>
        <dsp:cNvSpPr/>
      </dsp:nvSpPr>
      <dsp:spPr>
        <a:xfrm>
          <a:off x="6800686" y="0"/>
          <a:ext cx="1616726" cy="4306187"/>
        </a:xfrm>
        <a:prstGeom prst="roundRect">
          <a:avLst>
            <a:gd name="adj" fmla="val 10000"/>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100000"/>
            </a:lnSpc>
            <a:spcBef>
              <a:spcPct val="0"/>
            </a:spcBef>
            <a:spcAft>
              <a:spcPct val="35000"/>
            </a:spcAft>
            <a:buNone/>
          </a:pPr>
          <a:endParaRPr lang="en-GB" sz="1600" b="1" i="0" kern="1200" dirty="0">
            <a:latin typeface="Arial" panose="020B0604020202020204" pitchFamily="34" charset="0"/>
            <a:cs typeface="Arial" panose="020B0604020202020204" pitchFamily="34" charset="0"/>
          </a:endParaRPr>
        </a:p>
        <a:p>
          <a:pPr marL="0" lvl="0" indent="0" algn="ctr" defTabSz="711200">
            <a:lnSpc>
              <a:spcPct val="100000"/>
            </a:lnSpc>
            <a:spcBef>
              <a:spcPct val="0"/>
            </a:spcBef>
            <a:spcAft>
              <a:spcPct val="35000"/>
            </a:spcAft>
            <a:buNone/>
          </a:pPr>
          <a:endParaRPr lang="en-GB" sz="1600" b="1" i="0" kern="1200" dirty="0">
            <a:latin typeface="Arial" panose="020B0604020202020204" pitchFamily="34" charset="0"/>
            <a:cs typeface="Arial" panose="020B0604020202020204" pitchFamily="34" charset="0"/>
          </a:endParaRPr>
        </a:p>
        <a:p>
          <a:pPr marL="0" lvl="0" indent="0" algn="ctr" defTabSz="711200">
            <a:lnSpc>
              <a:spcPct val="100000"/>
            </a:lnSpc>
            <a:spcBef>
              <a:spcPct val="0"/>
            </a:spcBef>
            <a:spcAft>
              <a:spcPct val="35000"/>
            </a:spcAft>
            <a:buNone/>
          </a:pPr>
          <a:r>
            <a:rPr lang="en-GB" sz="1600" b="1" i="0" kern="1200" dirty="0">
              <a:latin typeface="Arial" panose="020B0604020202020204" pitchFamily="34" charset="0"/>
              <a:cs typeface="Arial" panose="020B0604020202020204" pitchFamily="34" charset="0"/>
            </a:rPr>
            <a:t>ACT</a:t>
          </a:r>
          <a:endParaRPr lang="en-GB" sz="1600" b="0" i="0" kern="1200" dirty="0">
            <a:latin typeface="Arial" panose="020B0604020202020204" pitchFamily="34" charset="0"/>
            <a:cs typeface="Arial" panose="020B0604020202020204" pitchFamily="34" charset="0"/>
          </a:endParaRPr>
        </a:p>
        <a:p>
          <a:pPr marL="0" lvl="0" indent="0" algn="ctr" defTabSz="711200">
            <a:lnSpc>
              <a:spcPct val="100000"/>
            </a:lnSpc>
            <a:spcBef>
              <a:spcPct val="0"/>
            </a:spcBef>
            <a:spcAft>
              <a:spcPct val="35000"/>
            </a:spcAft>
            <a:buNone/>
          </a:pPr>
          <a:endParaRPr lang="en-GB" sz="1600" b="0" i="0" kern="1200" dirty="0">
            <a:latin typeface="Arial" panose="020B0604020202020204" pitchFamily="34" charset="0"/>
            <a:cs typeface="Arial" panose="020B0604020202020204" pitchFamily="34" charset="0"/>
          </a:endParaRPr>
        </a:p>
        <a:p>
          <a:pPr marL="0" lvl="0" indent="0" algn="l" defTabSz="711200">
            <a:lnSpc>
              <a:spcPct val="100000"/>
            </a:lnSpc>
            <a:spcBef>
              <a:spcPct val="0"/>
            </a:spcBef>
            <a:spcAft>
              <a:spcPct val="35000"/>
            </a:spcAft>
            <a:buNone/>
          </a:pPr>
          <a:r>
            <a:rPr lang="en-GB" sz="1600" b="0" i="0" kern="1200" dirty="0">
              <a:latin typeface="Arial" panose="020B0604020202020204" pitchFamily="34" charset="0"/>
              <a:cs typeface="Arial" panose="020B0604020202020204" pitchFamily="34" charset="0"/>
            </a:rPr>
            <a:t>Create full dashboards</a:t>
          </a:r>
        </a:p>
        <a:p>
          <a:pPr marL="0" lvl="0" indent="0" algn="l" defTabSz="711200">
            <a:lnSpc>
              <a:spcPct val="100000"/>
            </a:lnSpc>
            <a:spcBef>
              <a:spcPct val="0"/>
            </a:spcBef>
            <a:spcAft>
              <a:spcPct val="35000"/>
            </a:spcAft>
            <a:buNone/>
          </a:pPr>
          <a:endParaRPr lang="en-GB" sz="1600" b="0" i="0" kern="1200" dirty="0">
            <a:latin typeface="Arial" panose="020B0604020202020204" pitchFamily="34" charset="0"/>
            <a:cs typeface="Arial" panose="020B0604020202020204" pitchFamily="34" charset="0"/>
          </a:endParaRPr>
        </a:p>
        <a:p>
          <a:pPr marL="0" lvl="0" indent="0" algn="l" defTabSz="711200">
            <a:lnSpc>
              <a:spcPct val="100000"/>
            </a:lnSpc>
            <a:spcBef>
              <a:spcPct val="0"/>
            </a:spcBef>
            <a:spcAft>
              <a:spcPct val="35000"/>
            </a:spcAft>
            <a:buNone/>
          </a:pPr>
          <a:r>
            <a:rPr lang="en-GB" sz="1600" b="0" i="0" kern="1200" dirty="0">
              <a:latin typeface="Arial" panose="020B0604020202020204" pitchFamily="34" charset="0"/>
              <a:cs typeface="Arial" panose="020B0604020202020204" pitchFamily="34" charset="0"/>
            </a:rPr>
            <a:t>Analyse demographics, spending &amp; ad performance</a:t>
          </a:r>
        </a:p>
        <a:p>
          <a:pPr marL="0" lvl="0" indent="0" algn="l" defTabSz="711200">
            <a:lnSpc>
              <a:spcPct val="100000"/>
            </a:lnSpc>
            <a:spcBef>
              <a:spcPct val="0"/>
            </a:spcBef>
            <a:spcAft>
              <a:spcPct val="35000"/>
            </a:spcAft>
            <a:buNone/>
          </a:pPr>
          <a:r>
            <a:rPr lang="en-GB" sz="1600" b="0" i="0" kern="1200" dirty="0">
              <a:latin typeface="Arial" panose="020B0604020202020204" pitchFamily="34" charset="0"/>
              <a:cs typeface="Arial" panose="020B0604020202020204" pitchFamily="34" charset="0"/>
            </a:rPr>
            <a:t>Identify effective channels</a:t>
          </a:r>
        </a:p>
        <a:p>
          <a:pPr marL="0" lvl="0" indent="0" algn="l" defTabSz="711200">
            <a:lnSpc>
              <a:spcPct val="100000"/>
            </a:lnSpc>
            <a:spcBef>
              <a:spcPct val="0"/>
            </a:spcBef>
            <a:spcAft>
              <a:spcPct val="35000"/>
            </a:spcAft>
            <a:buNone/>
          </a:pPr>
          <a:r>
            <a:rPr lang="en-GB" sz="1600" b="0" i="0" kern="1200" dirty="0">
              <a:latin typeface="Arial" panose="020B0604020202020204" pitchFamily="34" charset="0"/>
              <a:cs typeface="Arial" panose="020B0604020202020204" pitchFamily="34" charset="0"/>
            </a:rPr>
            <a:t>Generate recommendations</a:t>
          </a:r>
        </a:p>
        <a:p>
          <a:pPr marL="0" lvl="0" indent="0" algn="ctr" defTabSz="711200">
            <a:lnSpc>
              <a:spcPct val="100000"/>
            </a:lnSpc>
            <a:spcBef>
              <a:spcPct val="0"/>
            </a:spcBef>
            <a:spcAft>
              <a:spcPct val="35000"/>
            </a:spcAft>
            <a:buNone/>
          </a:pPr>
          <a:endParaRPr lang="en-GB" sz="1600" kern="1200" dirty="0">
            <a:latin typeface="Arial" panose="020B0604020202020204" pitchFamily="34" charset="0"/>
            <a:cs typeface="Arial" panose="020B0604020202020204" pitchFamily="34" charset="0"/>
          </a:endParaRPr>
        </a:p>
        <a:p>
          <a:pPr marL="0" lvl="0" indent="0" algn="ctr" defTabSz="711200">
            <a:lnSpc>
              <a:spcPct val="100000"/>
            </a:lnSpc>
            <a:spcBef>
              <a:spcPct val="0"/>
            </a:spcBef>
            <a:spcAft>
              <a:spcPct val="35000"/>
            </a:spcAft>
            <a:buNone/>
          </a:pPr>
          <a:endParaRPr lang="en-GB" sz="1600" kern="1200" dirty="0">
            <a:latin typeface="Arial" panose="020B0604020202020204" pitchFamily="34" charset="0"/>
            <a:cs typeface="Arial" panose="020B0604020202020204" pitchFamily="34" charset="0"/>
          </a:endParaRPr>
        </a:p>
      </dsp:txBody>
      <dsp:txXfrm>
        <a:off x="6848038" y="47352"/>
        <a:ext cx="1522022" cy="4211483"/>
      </dsp:txXfrm>
    </dsp:sp>
    <dsp:sp modelId="{5F190A71-8387-467E-917C-7AFC55439298}">
      <dsp:nvSpPr>
        <dsp:cNvPr id="0" name=""/>
        <dsp:cNvSpPr/>
      </dsp:nvSpPr>
      <dsp:spPr>
        <a:xfrm>
          <a:off x="8579085" y="1952619"/>
          <a:ext cx="342745" cy="400948"/>
        </a:xfrm>
        <a:prstGeom prst="rightArrow">
          <a:avLst>
            <a:gd name="adj1" fmla="val 60000"/>
            <a:gd name="adj2" fmla="val 50000"/>
          </a:avLst>
        </a:prstGeom>
        <a:gradFill rotWithShape="0">
          <a:gsLst>
            <a:gs pos="0">
              <a:schemeClr val="accent2">
                <a:tint val="60000"/>
                <a:hueOff val="0"/>
                <a:satOff val="0"/>
                <a:lumOff val="0"/>
                <a:alphaOff val="0"/>
                <a:lumMod val="110000"/>
                <a:satMod val="105000"/>
                <a:tint val="67000"/>
              </a:schemeClr>
            </a:gs>
            <a:gs pos="50000">
              <a:schemeClr val="accent2">
                <a:tint val="60000"/>
                <a:hueOff val="0"/>
                <a:satOff val="0"/>
                <a:lumOff val="0"/>
                <a:alphaOff val="0"/>
                <a:lumMod val="105000"/>
                <a:satMod val="103000"/>
                <a:tint val="73000"/>
              </a:schemeClr>
            </a:gs>
            <a:gs pos="100000">
              <a:schemeClr val="accent2">
                <a:tint val="60000"/>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GB" sz="1800" kern="1200"/>
        </a:p>
      </dsp:txBody>
      <dsp:txXfrm>
        <a:off x="8579085" y="2032809"/>
        <a:ext cx="239922" cy="240568"/>
      </dsp:txXfrm>
    </dsp:sp>
    <dsp:sp modelId="{D9514A1C-93BB-47A6-B7A9-2D076DFD4287}">
      <dsp:nvSpPr>
        <dsp:cNvPr id="0" name=""/>
        <dsp:cNvSpPr/>
      </dsp:nvSpPr>
      <dsp:spPr>
        <a:xfrm>
          <a:off x="9064103" y="0"/>
          <a:ext cx="1616726" cy="4306187"/>
        </a:xfrm>
        <a:prstGeom prst="roundRect">
          <a:avLst>
            <a:gd name="adj" fmla="val 10000"/>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100000"/>
            </a:lnSpc>
            <a:spcBef>
              <a:spcPct val="0"/>
            </a:spcBef>
            <a:spcAft>
              <a:spcPct val="35000"/>
            </a:spcAft>
            <a:buNone/>
          </a:pPr>
          <a:r>
            <a:rPr lang="en-GB" sz="1600" b="1" i="0" kern="1200" dirty="0">
              <a:latin typeface="Arial" panose="020B0604020202020204" pitchFamily="34" charset="0"/>
              <a:cs typeface="Arial" panose="020B0604020202020204" pitchFamily="34" charset="0"/>
            </a:rPr>
            <a:t>LOOK BACK</a:t>
          </a:r>
          <a:endParaRPr lang="en-GB" sz="1600" b="0" i="0" kern="1200" dirty="0">
            <a:latin typeface="Arial" panose="020B0604020202020204" pitchFamily="34" charset="0"/>
            <a:cs typeface="Arial" panose="020B0604020202020204" pitchFamily="34" charset="0"/>
          </a:endParaRPr>
        </a:p>
        <a:p>
          <a:pPr marL="0" lvl="0" indent="0" algn="ctr" defTabSz="711200">
            <a:lnSpc>
              <a:spcPct val="100000"/>
            </a:lnSpc>
            <a:spcBef>
              <a:spcPct val="0"/>
            </a:spcBef>
            <a:spcAft>
              <a:spcPct val="35000"/>
            </a:spcAft>
            <a:buNone/>
          </a:pPr>
          <a:endParaRPr lang="en-GB" sz="1600" b="0" i="0" kern="1200" dirty="0">
            <a:latin typeface="Arial" panose="020B0604020202020204" pitchFamily="34" charset="0"/>
            <a:cs typeface="Arial" panose="020B0604020202020204" pitchFamily="34" charset="0"/>
          </a:endParaRPr>
        </a:p>
        <a:p>
          <a:pPr marL="0" lvl="0" indent="0" algn="l" defTabSz="711200">
            <a:lnSpc>
              <a:spcPct val="100000"/>
            </a:lnSpc>
            <a:spcBef>
              <a:spcPct val="0"/>
            </a:spcBef>
            <a:spcAft>
              <a:spcPct val="35000"/>
            </a:spcAft>
            <a:buNone/>
          </a:pPr>
          <a:r>
            <a:rPr lang="en-GB" sz="1600" b="0" i="0" kern="1200" dirty="0">
              <a:latin typeface="Arial" panose="020B0604020202020204" pitchFamily="34" charset="0"/>
              <a:cs typeface="Arial" panose="020B0604020202020204" pitchFamily="34" charset="0"/>
            </a:rPr>
            <a:t>Evaluate results &amp; limitations</a:t>
          </a:r>
        </a:p>
        <a:p>
          <a:pPr marL="0" lvl="0" indent="0" algn="ctr" defTabSz="711200">
            <a:lnSpc>
              <a:spcPct val="100000"/>
            </a:lnSpc>
            <a:spcBef>
              <a:spcPct val="0"/>
            </a:spcBef>
            <a:spcAft>
              <a:spcPct val="35000"/>
            </a:spcAft>
            <a:buNone/>
          </a:pPr>
          <a:endParaRPr lang="en-GB" sz="1600" b="0" i="0" kern="1200" dirty="0">
            <a:latin typeface="Arial" panose="020B0604020202020204" pitchFamily="34" charset="0"/>
            <a:cs typeface="Arial" panose="020B0604020202020204" pitchFamily="34" charset="0"/>
          </a:endParaRPr>
        </a:p>
        <a:p>
          <a:pPr marL="0" lvl="0" indent="0" algn="ctr" defTabSz="711200">
            <a:lnSpc>
              <a:spcPct val="100000"/>
            </a:lnSpc>
            <a:spcBef>
              <a:spcPct val="0"/>
            </a:spcBef>
            <a:spcAft>
              <a:spcPct val="35000"/>
            </a:spcAft>
            <a:buNone/>
          </a:pPr>
          <a:endParaRPr lang="en-GB" sz="1600" b="0" i="0" kern="1200" dirty="0">
            <a:latin typeface="Arial" panose="020B0604020202020204" pitchFamily="34" charset="0"/>
            <a:cs typeface="Arial" panose="020B0604020202020204" pitchFamily="34" charset="0"/>
          </a:endParaRPr>
        </a:p>
        <a:p>
          <a:pPr marL="0" lvl="0" indent="0" algn="l" defTabSz="711200">
            <a:lnSpc>
              <a:spcPct val="100000"/>
            </a:lnSpc>
            <a:spcBef>
              <a:spcPct val="0"/>
            </a:spcBef>
            <a:spcAft>
              <a:spcPct val="35000"/>
            </a:spcAft>
            <a:buNone/>
          </a:pPr>
          <a:r>
            <a:rPr lang="en-GB" sz="1600" b="0" i="0" kern="1200" dirty="0">
              <a:latin typeface="Arial" panose="020B0604020202020204" pitchFamily="34" charset="0"/>
              <a:cs typeface="Arial" panose="020B0604020202020204" pitchFamily="34" charset="0"/>
            </a:rPr>
            <a:t>Identify improvements</a:t>
          </a:r>
        </a:p>
        <a:p>
          <a:pPr marL="0" lvl="0" indent="0" algn="ctr" defTabSz="711200">
            <a:lnSpc>
              <a:spcPct val="100000"/>
            </a:lnSpc>
            <a:spcBef>
              <a:spcPct val="0"/>
            </a:spcBef>
            <a:spcAft>
              <a:spcPct val="35000"/>
            </a:spcAft>
            <a:buNone/>
          </a:pPr>
          <a:endParaRPr lang="en-GB" sz="1600" b="0" i="0" kern="1200" dirty="0">
            <a:latin typeface="Arial" panose="020B0604020202020204" pitchFamily="34" charset="0"/>
            <a:cs typeface="Arial" panose="020B0604020202020204" pitchFamily="34" charset="0"/>
          </a:endParaRPr>
        </a:p>
        <a:p>
          <a:pPr marL="0" lvl="0" indent="0" algn="l" defTabSz="711200">
            <a:lnSpc>
              <a:spcPct val="100000"/>
            </a:lnSpc>
            <a:spcBef>
              <a:spcPct val="0"/>
            </a:spcBef>
            <a:spcAft>
              <a:spcPct val="35000"/>
            </a:spcAft>
            <a:buNone/>
          </a:pPr>
          <a:r>
            <a:rPr lang="en-GB" sz="1600" b="0" i="0" kern="1200" dirty="0">
              <a:latin typeface="Arial" panose="020B0604020202020204" pitchFamily="34" charset="0"/>
              <a:cs typeface="Arial" panose="020B0604020202020204" pitchFamily="34" charset="0"/>
            </a:rPr>
            <a:t>Confirm strategic value of insights</a:t>
          </a:r>
        </a:p>
        <a:p>
          <a:pPr marL="0" lvl="0" indent="0" algn="ctr" defTabSz="711200">
            <a:lnSpc>
              <a:spcPct val="100000"/>
            </a:lnSpc>
            <a:spcBef>
              <a:spcPct val="0"/>
            </a:spcBef>
            <a:spcAft>
              <a:spcPct val="35000"/>
            </a:spcAft>
            <a:buNone/>
          </a:pPr>
          <a:endParaRPr lang="en-GB" sz="1600" kern="1200" dirty="0">
            <a:latin typeface="Arial" panose="020B0604020202020204" pitchFamily="34" charset="0"/>
            <a:cs typeface="Arial" panose="020B0604020202020204" pitchFamily="34" charset="0"/>
          </a:endParaRPr>
        </a:p>
        <a:p>
          <a:pPr marL="0" lvl="0" indent="0" algn="ctr" defTabSz="711200">
            <a:lnSpc>
              <a:spcPct val="90000"/>
            </a:lnSpc>
            <a:spcBef>
              <a:spcPct val="0"/>
            </a:spcBef>
            <a:spcAft>
              <a:spcPct val="35000"/>
            </a:spcAft>
            <a:buNone/>
          </a:pPr>
          <a:endParaRPr lang="en-GB" sz="1200" kern="1200" dirty="0"/>
        </a:p>
      </dsp:txBody>
      <dsp:txXfrm>
        <a:off x="9111455" y="47352"/>
        <a:ext cx="1522022" cy="421148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BD6BE3-9652-424B-9624-FCF393147465}">
      <dsp:nvSpPr>
        <dsp:cNvPr id="0" name=""/>
        <dsp:cNvSpPr/>
      </dsp:nvSpPr>
      <dsp:spPr>
        <a:xfrm>
          <a:off x="690325" y="2008"/>
          <a:ext cx="2935762" cy="747184"/>
        </a:xfrm>
        <a:prstGeom prst="roundRect">
          <a:avLst>
            <a:gd name="adj" fmla="val 1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a:t>Cutomer Data + Advertising Data</a:t>
          </a:r>
        </a:p>
      </dsp:txBody>
      <dsp:txXfrm>
        <a:off x="712209" y="23892"/>
        <a:ext cx="2891994" cy="703416"/>
      </dsp:txXfrm>
    </dsp:sp>
    <dsp:sp modelId="{D8F8C475-487A-45A2-A973-E99DF367055F}">
      <dsp:nvSpPr>
        <dsp:cNvPr id="0" name=""/>
        <dsp:cNvSpPr/>
      </dsp:nvSpPr>
      <dsp:spPr>
        <a:xfrm rot="5400000">
          <a:off x="2018109" y="767872"/>
          <a:ext cx="280194" cy="336232"/>
        </a:xfrm>
        <a:prstGeom prst="rightArrow">
          <a:avLst>
            <a:gd name="adj1" fmla="val 60000"/>
            <a:gd name="adj2" fmla="val 50000"/>
          </a:avLst>
        </a:prstGeom>
        <a:gradFill rotWithShape="0">
          <a:gsLst>
            <a:gs pos="0">
              <a:schemeClr val="accent3">
                <a:tint val="60000"/>
                <a:hueOff val="0"/>
                <a:satOff val="0"/>
                <a:lumOff val="0"/>
                <a:alphaOff val="0"/>
                <a:lumMod val="110000"/>
                <a:satMod val="105000"/>
                <a:tint val="67000"/>
              </a:schemeClr>
            </a:gs>
            <a:gs pos="50000">
              <a:schemeClr val="accent3">
                <a:tint val="60000"/>
                <a:hueOff val="0"/>
                <a:satOff val="0"/>
                <a:lumOff val="0"/>
                <a:alphaOff val="0"/>
                <a:lumMod val="105000"/>
                <a:satMod val="103000"/>
                <a:tint val="73000"/>
              </a:schemeClr>
            </a:gs>
            <a:gs pos="100000">
              <a:schemeClr val="accent3">
                <a:tint val="60000"/>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rot="-5400000">
        <a:off x="2057336" y="795891"/>
        <a:ext cx="201740" cy="196136"/>
      </dsp:txXfrm>
    </dsp:sp>
    <dsp:sp modelId="{D3471265-2075-403A-9977-ED3DEF5699D9}">
      <dsp:nvSpPr>
        <dsp:cNvPr id="0" name=""/>
        <dsp:cNvSpPr/>
      </dsp:nvSpPr>
      <dsp:spPr>
        <a:xfrm>
          <a:off x="690325" y="1122784"/>
          <a:ext cx="2935762" cy="747184"/>
        </a:xfrm>
        <a:prstGeom prst="roundRect">
          <a:avLst>
            <a:gd name="adj" fmla="val 1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a:t>Joined Dataset (using customer ID)</a:t>
          </a:r>
        </a:p>
      </dsp:txBody>
      <dsp:txXfrm>
        <a:off x="712209" y="1144668"/>
        <a:ext cx="2891994" cy="703416"/>
      </dsp:txXfrm>
    </dsp:sp>
    <dsp:sp modelId="{4944097F-645A-46A3-AA6D-D2F477C841AE}">
      <dsp:nvSpPr>
        <dsp:cNvPr id="0" name=""/>
        <dsp:cNvSpPr/>
      </dsp:nvSpPr>
      <dsp:spPr>
        <a:xfrm rot="5400000">
          <a:off x="2018109" y="1888648"/>
          <a:ext cx="280194" cy="336232"/>
        </a:xfrm>
        <a:prstGeom prst="rightArrow">
          <a:avLst>
            <a:gd name="adj1" fmla="val 60000"/>
            <a:gd name="adj2" fmla="val 50000"/>
          </a:avLst>
        </a:prstGeom>
        <a:gradFill rotWithShape="0">
          <a:gsLst>
            <a:gs pos="0">
              <a:schemeClr val="accent3">
                <a:tint val="60000"/>
                <a:hueOff val="0"/>
                <a:satOff val="0"/>
                <a:lumOff val="0"/>
                <a:alphaOff val="0"/>
                <a:lumMod val="110000"/>
                <a:satMod val="105000"/>
                <a:tint val="67000"/>
              </a:schemeClr>
            </a:gs>
            <a:gs pos="50000">
              <a:schemeClr val="accent3">
                <a:tint val="60000"/>
                <a:hueOff val="0"/>
                <a:satOff val="0"/>
                <a:lumOff val="0"/>
                <a:alphaOff val="0"/>
                <a:lumMod val="105000"/>
                <a:satMod val="103000"/>
                <a:tint val="73000"/>
              </a:schemeClr>
            </a:gs>
            <a:gs pos="100000">
              <a:schemeClr val="accent3">
                <a:tint val="60000"/>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rot="-5400000">
        <a:off x="2057336" y="1916667"/>
        <a:ext cx="201740" cy="196136"/>
      </dsp:txXfrm>
    </dsp:sp>
    <dsp:sp modelId="{57E7BFD8-0912-41F9-A48E-9CE301ED87EE}">
      <dsp:nvSpPr>
        <dsp:cNvPr id="0" name=""/>
        <dsp:cNvSpPr/>
      </dsp:nvSpPr>
      <dsp:spPr>
        <a:xfrm>
          <a:off x="690325" y="2243561"/>
          <a:ext cx="2935762" cy="747184"/>
        </a:xfrm>
        <a:prstGeom prst="roundRect">
          <a:avLst>
            <a:gd name="adj" fmla="val 1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a:t>SQL Queries on Advertising Exposure and Spending</a:t>
          </a:r>
        </a:p>
      </dsp:txBody>
      <dsp:txXfrm>
        <a:off x="712209" y="2265445"/>
        <a:ext cx="2891994" cy="703416"/>
      </dsp:txXfrm>
    </dsp:sp>
    <dsp:sp modelId="{3C12D1BE-ED37-41F3-A4C1-DA2466265C9E}">
      <dsp:nvSpPr>
        <dsp:cNvPr id="0" name=""/>
        <dsp:cNvSpPr/>
      </dsp:nvSpPr>
      <dsp:spPr>
        <a:xfrm rot="5400000">
          <a:off x="2018109" y="3009424"/>
          <a:ext cx="280194" cy="336232"/>
        </a:xfrm>
        <a:prstGeom prst="rightArrow">
          <a:avLst>
            <a:gd name="adj1" fmla="val 60000"/>
            <a:gd name="adj2" fmla="val 50000"/>
          </a:avLst>
        </a:prstGeom>
        <a:gradFill rotWithShape="0">
          <a:gsLst>
            <a:gs pos="0">
              <a:schemeClr val="accent3">
                <a:tint val="60000"/>
                <a:hueOff val="0"/>
                <a:satOff val="0"/>
                <a:lumOff val="0"/>
                <a:alphaOff val="0"/>
                <a:lumMod val="110000"/>
                <a:satMod val="105000"/>
                <a:tint val="67000"/>
              </a:schemeClr>
            </a:gs>
            <a:gs pos="50000">
              <a:schemeClr val="accent3">
                <a:tint val="60000"/>
                <a:hueOff val="0"/>
                <a:satOff val="0"/>
                <a:lumOff val="0"/>
                <a:alphaOff val="0"/>
                <a:lumMod val="105000"/>
                <a:satMod val="103000"/>
                <a:tint val="73000"/>
              </a:schemeClr>
            </a:gs>
            <a:gs pos="100000">
              <a:schemeClr val="accent3">
                <a:tint val="60000"/>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rot="-5400000">
        <a:off x="2057336" y="3037443"/>
        <a:ext cx="201740" cy="196136"/>
      </dsp:txXfrm>
    </dsp:sp>
    <dsp:sp modelId="{972C3CFE-B0A2-4A7F-A436-FB15BDFAC0FB}">
      <dsp:nvSpPr>
        <dsp:cNvPr id="0" name=""/>
        <dsp:cNvSpPr/>
      </dsp:nvSpPr>
      <dsp:spPr>
        <a:xfrm>
          <a:off x="690325" y="3364337"/>
          <a:ext cx="2935762" cy="747184"/>
        </a:xfrm>
        <a:prstGeom prst="roundRect">
          <a:avLst>
            <a:gd name="adj" fmla="val 1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a:t>Identification of Effective Platforms</a:t>
          </a:r>
        </a:p>
      </dsp:txBody>
      <dsp:txXfrm>
        <a:off x="712209" y="3386221"/>
        <a:ext cx="2891994" cy="70341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451E62-6C04-4656-8D4B-7A9E8CFEFD08}" type="datetimeFigureOut">
              <a:rPr lang="en-GB" smtClean="0"/>
              <a:t>07/04/2026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316266-4EF9-446E-B068-768F6CBB1044}" type="slidenum">
              <a:rPr lang="en-GB" smtClean="0"/>
              <a:t>‹#›</a:t>
            </a:fld>
            <a:endParaRPr lang="en-GB"/>
          </a:p>
        </p:txBody>
      </p:sp>
    </p:spTree>
    <p:extLst>
      <p:ext uri="{BB962C8B-B14F-4D97-AF65-F5344CB8AC3E}">
        <p14:creationId xmlns:p14="http://schemas.microsoft.com/office/powerpoint/2010/main" val="5386829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Good afternoon, everyone.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Today, we are going to look at data-driven analysis of 2Market’s customers, spending behaviours, and advertising performance. Our goal is to grasp how analytics can improve decision-making and guide us with a more effective marketing strategy.</a:t>
            </a:r>
            <a:endParaRPr lang="en-GB" dirty="0"/>
          </a:p>
          <a:p>
            <a:endParaRPr lang="en-GB" dirty="0"/>
          </a:p>
        </p:txBody>
      </p:sp>
      <p:sp>
        <p:nvSpPr>
          <p:cNvPr id="4" name="Slide Number Placeholder 3"/>
          <p:cNvSpPr>
            <a:spLocks noGrp="1"/>
          </p:cNvSpPr>
          <p:nvPr>
            <p:ph type="sldNum" sz="quarter" idx="5"/>
          </p:nvPr>
        </p:nvSpPr>
        <p:spPr/>
        <p:txBody>
          <a:bodyPr/>
          <a:lstStyle/>
          <a:p>
            <a:fld id="{33316266-4EF9-446E-B068-768F6CBB1044}" type="slidenum">
              <a:rPr lang="en-GB" smtClean="0"/>
              <a:t>1</a:t>
            </a:fld>
            <a:endParaRPr lang="en-GB"/>
          </a:p>
        </p:txBody>
      </p:sp>
    </p:spTree>
    <p:extLst>
      <p:ext uri="{BB962C8B-B14F-4D97-AF65-F5344CB8AC3E}">
        <p14:creationId xmlns:p14="http://schemas.microsoft.com/office/powerpoint/2010/main" val="6097585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2Market currently struggles to understand who its customers truly are and which marketing channels deliver value. The data is available, but insights have not yet been fully extracted. This project identifies who our customers are, what they spend money on, and which advertising channels are worth investing in.</a:t>
            </a:r>
            <a:endParaRPr lang="en-GB" dirty="0"/>
          </a:p>
        </p:txBody>
      </p:sp>
      <p:sp>
        <p:nvSpPr>
          <p:cNvPr id="4" name="Slide Number Placeholder 3"/>
          <p:cNvSpPr>
            <a:spLocks noGrp="1"/>
          </p:cNvSpPr>
          <p:nvPr>
            <p:ph type="sldNum" sz="quarter" idx="5"/>
          </p:nvPr>
        </p:nvSpPr>
        <p:spPr/>
        <p:txBody>
          <a:bodyPr/>
          <a:lstStyle/>
          <a:p>
            <a:fld id="{33316266-4EF9-446E-B068-768F6CBB1044}" type="slidenum">
              <a:rPr lang="en-GB" smtClean="0"/>
              <a:t>2</a:t>
            </a:fld>
            <a:endParaRPr lang="en-GB"/>
          </a:p>
        </p:txBody>
      </p:sp>
    </p:spTree>
    <p:extLst>
      <p:ext uri="{BB962C8B-B14F-4D97-AF65-F5344CB8AC3E}">
        <p14:creationId xmlns:p14="http://schemas.microsoft.com/office/powerpoint/2010/main" val="25806995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I applied the IDEAL problem-solving model because it provides a clear structure for analytical work. We identify the business problem, define the data structure, explore using SQL, Excel, and Tableau, act by building dashboards and insights, and finally evaluate limitations and future improvements</a:t>
            </a:r>
          </a:p>
          <a:p>
            <a:endParaRPr lang="en-GB" dirty="0"/>
          </a:p>
        </p:txBody>
      </p:sp>
      <p:sp>
        <p:nvSpPr>
          <p:cNvPr id="4" name="Slide Number Placeholder 3"/>
          <p:cNvSpPr>
            <a:spLocks noGrp="1"/>
          </p:cNvSpPr>
          <p:nvPr>
            <p:ph type="sldNum" sz="quarter" idx="5"/>
          </p:nvPr>
        </p:nvSpPr>
        <p:spPr/>
        <p:txBody>
          <a:bodyPr/>
          <a:lstStyle/>
          <a:p>
            <a:fld id="{33316266-4EF9-446E-B068-768F6CBB1044}" type="slidenum">
              <a:rPr lang="en-GB" smtClean="0"/>
              <a:t>3</a:t>
            </a:fld>
            <a:endParaRPr lang="en-GB"/>
          </a:p>
        </p:txBody>
      </p:sp>
    </p:spTree>
    <p:extLst>
      <p:ext uri="{BB962C8B-B14F-4D97-AF65-F5344CB8AC3E}">
        <p14:creationId xmlns:p14="http://schemas.microsoft.com/office/powerpoint/2010/main" val="42355352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Key points: </a:t>
            </a:r>
          </a:p>
          <a:p>
            <a:endParaRPr lang="en-GB" dirty="0"/>
          </a:p>
          <a:p>
            <a:pPr marL="285750" indent="-285750">
              <a:buFont typeface="Arial" panose="020B0604020202020204" pitchFamily="34" charset="0"/>
              <a:buChar char="•"/>
            </a:pPr>
            <a:r>
              <a:rPr lang="en-GB" dirty="0"/>
              <a:t>Cleaned income, removed duplicates, calculated age.</a:t>
            </a:r>
          </a:p>
          <a:p>
            <a:pPr marL="285750" indent="-285750">
              <a:buFont typeface="Arial" panose="020B0604020202020204" pitchFamily="34" charset="0"/>
              <a:buChar char="•"/>
            </a:pPr>
            <a:r>
              <a:rPr lang="en-GB" dirty="0"/>
              <a:t>SQL LEFT JOIN combined customer + ad data.</a:t>
            </a:r>
          </a:p>
          <a:p>
            <a:pPr marL="285750" indent="-285750">
              <a:buFont typeface="Arial" panose="020B0604020202020204" pitchFamily="34" charset="0"/>
              <a:buChar char="•"/>
            </a:pPr>
            <a:r>
              <a:rPr lang="en-GB" dirty="0"/>
              <a:t>Aggregate spending and exposure by demographics. </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Using Excel and SQL, I prepared a clean unified dataset that joined customer demographics, spending behaviour, and advertising channel exposure. This enabled accurate segmentation and channel analysis.</a:t>
            </a:r>
          </a:p>
          <a:p>
            <a:endParaRPr lang="en-GB" dirty="0"/>
          </a:p>
        </p:txBody>
      </p:sp>
      <p:sp>
        <p:nvSpPr>
          <p:cNvPr id="4" name="Slide Number Placeholder 3"/>
          <p:cNvSpPr>
            <a:spLocks noGrp="1"/>
          </p:cNvSpPr>
          <p:nvPr>
            <p:ph type="sldNum" sz="quarter" idx="5"/>
          </p:nvPr>
        </p:nvSpPr>
        <p:spPr/>
        <p:txBody>
          <a:bodyPr/>
          <a:lstStyle/>
          <a:p>
            <a:fld id="{33316266-4EF9-446E-B068-768F6CBB1044}" type="slidenum">
              <a:rPr lang="en-GB" smtClean="0"/>
              <a:t>4</a:t>
            </a:fld>
            <a:endParaRPr lang="en-GB"/>
          </a:p>
        </p:txBody>
      </p:sp>
    </p:spTree>
    <p:extLst>
      <p:ext uri="{BB962C8B-B14F-4D97-AF65-F5344CB8AC3E}">
        <p14:creationId xmlns:p14="http://schemas.microsoft.com/office/powerpoint/2010/main" val="40044291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Average Age: 44</a:t>
            </a:r>
          </a:p>
          <a:p>
            <a:r>
              <a:rPr lang="en-GB" dirty="0"/>
              <a:t>Age peak: 40-60 years</a:t>
            </a:r>
          </a:p>
          <a:p>
            <a:r>
              <a:rPr lang="en-GB" dirty="0"/>
              <a:t>Education: Graduation = largest group</a:t>
            </a:r>
          </a:p>
          <a:p>
            <a:r>
              <a:rPr lang="en-GB" dirty="0"/>
              <a:t>Country: Spain dominates</a:t>
            </a:r>
          </a:p>
          <a:p>
            <a:r>
              <a:rPr lang="en-GB" dirty="0"/>
              <a:t>Marital Status: Married majority</a:t>
            </a:r>
          </a:p>
          <a:p>
            <a:endParaRPr lang="en-GB" dirty="0"/>
          </a:p>
          <a:p>
            <a:pPr fontAlgn="t"/>
            <a:r>
              <a:rPr lang="en-GB" sz="1200" b="0" i="0" kern="1200" dirty="0">
                <a:solidFill>
                  <a:schemeClr val="tx1"/>
                </a:solidFill>
                <a:effectLst/>
                <a:latin typeface="+mn-lt"/>
                <a:ea typeface="+mn-ea"/>
                <a:cs typeface="+mn-cs"/>
              </a:rPr>
              <a:t>These Tableau visualisations help us understand the demographic profile of 2Market’s customers.</a:t>
            </a:r>
          </a:p>
          <a:p>
            <a:pPr fontAlgn="t"/>
            <a:r>
              <a:rPr lang="en-GB" sz="1200" b="0" i="0" kern="1200" dirty="0">
                <a:solidFill>
                  <a:schemeClr val="tx1"/>
                </a:solidFill>
                <a:effectLst/>
                <a:latin typeface="+mn-lt"/>
                <a:ea typeface="+mn-ea"/>
                <a:cs typeface="+mn-cs"/>
              </a:rPr>
              <a:t>First, the age distribution shows that most customers fall between </a:t>
            </a:r>
            <a:r>
              <a:rPr lang="en-GB" sz="1200" b="1" i="0" kern="1200" dirty="0">
                <a:solidFill>
                  <a:schemeClr val="tx1"/>
                </a:solidFill>
                <a:effectLst/>
                <a:latin typeface="+mn-lt"/>
                <a:ea typeface="+mn-ea"/>
                <a:cs typeface="+mn-cs"/>
              </a:rPr>
              <a:t>40 and 60 years old</a:t>
            </a:r>
            <a:r>
              <a:rPr lang="en-GB" sz="1200" b="0" i="0" kern="1200" dirty="0">
                <a:solidFill>
                  <a:schemeClr val="tx1"/>
                </a:solidFill>
                <a:effectLst/>
                <a:latin typeface="+mn-lt"/>
                <a:ea typeface="+mn-ea"/>
                <a:cs typeface="+mn-cs"/>
              </a:rPr>
              <a:t>, with an average age of </a:t>
            </a:r>
            <a:r>
              <a:rPr lang="en-GB" sz="1200" b="1" i="0" kern="1200" dirty="0">
                <a:solidFill>
                  <a:schemeClr val="tx1"/>
                </a:solidFill>
                <a:effectLst/>
                <a:latin typeface="+mn-lt"/>
                <a:ea typeface="+mn-ea"/>
                <a:cs typeface="+mn-cs"/>
              </a:rPr>
              <a:t>44</a:t>
            </a:r>
            <a:r>
              <a:rPr lang="en-GB" sz="1200" b="0" i="0" kern="1200" dirty="0">
                <a:solidFill>
                  <a:schemeClr val="tx1"/>
                </a:solidFill>
                <a:effectLst/>
                <a:latin typeface="+mn-lt"/>
                <a:ea typeface="+mn-ea"/>
                <a:cs typeface="+mn-cs"/>
              </a:rPr>
              <a:t>, indicating a predominantly middle-aged customer base.</a:t>
            </a:r>
          </a:p>
          <a:p>
            <a:pPr fontAlgn="t"/>
            <a:r>
              <a:rPr lang="en-GB" sz="1200" b="0" i="0" kern="1200" dirty="0">
                <a:solidFill>
                  <a:schemeClr val="tx1"/>
                </a:solidFill>
                <a:effectLst/>
                <a:latin typeface="+mn-lt"/>
                <a:ea typeface="+mn-ea"/>
                <a:cs typeface="+mn-cs"/>
              </a:rPr>
              <a:t>The education chart reveals that the majority of customers have completed </a:t>
            </a:r>
            <a:r>
              <a:rPr lang="en-GB" sz="1200" b="1" i="0" kern="1200" dirty="0">
                <a:solidFill>
                  <a:schemeClr val="tx1"/>
                </a:solidFill>
                <a:effectLst/>
                <a:latin typeface="+mn-lt"/>
                <a:ea typeface="+mn-ea"/>
                <a:cs typeface="+mn-cs"/>
              </a:rPr>
              <a:t>Graduation degrees</a:t>
            </a:r>
            <a:r>
              <a:rPr lang="en-GB" sz="1200" b="0" i="0" kern="1200" dirty="0">
                <a:solidFill>
                  <a:schemeClr val="tx1"/>
                </a:solidFill>
                <a:effectLst/>
                <a:latin typeface="+mn-lt"/>
                <a:ea typeface="+mn-ea"/>
                <a:cs typeface="+mn-cs"/>
              </a:rPr>
              <a:t>, followed by Master’s and PhD levels. This shows that 2Market attracts a relatively educated audience.</a:t>
            </a:r>
          </a:p>
          <a:p>
            <a:pPr fontAlgn="t"/>
            <a:r>
              <a:rPr lang="en-GB" sz="1200" b="0" i="0" kern="1200" dirty="0">
                <a:solidFill>
                  <a:schemeClr val="tx1"/>
                </a:solidFill>
                <a:effectLst/>
                <a:latin typeface="+mn-lt"/>
                <a:ea typeface="+mn-ea"/>
                <a:cs typeface="+mn-cs"/>
              </a:rPr>
              <a:t>Marital status insights show that </a:t>
            </a:r>
            <a:r>
              <a:rPr lang="en-GB" sz="1200" b="1" i="0" kern="1200" dirty="0">
                <a:solidFill>
                  <a:schemeClr val="tx1"/>
                </a:solidFill>
                <a:effectLst/>
                <a:latin typeface="+mn-lt"/>
                <a:ea typeface="+mn-ea"/>
                <a:cs typeface="+mn-cs"/>
              </a:rPr>
              <a:t>Married customers</a:t>
            </a:r>
            <a:r>
              <a:rPr lang="en-GB" sz="1200" b="0" i="0" kern="1200" dirty="0">
                <a:solidFill>
                  <a:schemeClr val="tx1"/>
                </a:solidFill>
                <a:effectLst/>
                <a:latin typeface="+mn-lt"/>
                <a:ea typeface="+mn-ea"/>
                <a:cs typeface="+mn-cs"/>
              </a:rPr>
              <a:t> make up the largest portion of the customer base.</a:t>
            </a:r>
          </a:p>
          <a:p>
            <a:pPr fontAlgn="t"/>
            <a:r>
              <a:rPr lang="en-GB" sz="1200" b="0" i="0" kern="1200" dirty="0">
                <a:solidFill>
                  <a:schemeClr val="tx1"/>
                </a:solidFill>
                <a:effectLst/>
                <a:latin typeface="+mn-lt"/>
                <a:ea typeface="+mn-ea"/>
                <a:cs typeface="+mn-cs"/>
              </a:rPr>
              <a:t>Finally, the country breakdown highlights that </a:t>
            </a:r>
            <a:r>
              <a:rPr lang="en-GB" sz="1200" b="1" i="0" kern="1200" dirty="0">
                <a:solidFill>
                  <a:schemeClr val="tx1"/>
                </a:solidFill>
                <a:effectLst/>
                <a:latin typeface="+mn-lt"/>
                <a:ea typeface="+mn-ea"/>
                <a:cs typeface="+mn-cs"/>
              </a:rPr>
              <a:t>Spain is by far the largest customer segment</a:t>
            </a:r>
            <a:r>
              <a:rPr lang="en-GB" sz="1200" b="0" i="0" kern="1200" dirty="0">
                <a:solidFill>
                  <a:schemeClr val="tx1"/>
                </a:solidFill>
                <a:effectLst/>
                <a:latin typeface="+mn-lt"/>
                <a:ea typeface="+mn-ea"/>
                <a:cs typeface="+mn-cs"/>
              </a:rPr>
              <a:t>, with substantial contributions from SA and CA.</a:t>
            </a:r>
          </a:p>
          <a:p>
            <a:pPr fontAlgn="t"/>
            <a:r>
              <a:rPr lang="en-GB" sz="1200" b="0" i="0" kern="1200" dirty="0">
                <a:solidFill>
                  <a:schemeClr val="tx1"/>
                </a:solidFill>
                <a:effectLst/>
                <a:latin typeface="+mn-lt"/>
                <a:ea typeface="+mn-ea"/>
                <a:cs typeface="+mn-cs"/>
              </a:rPr>
              <a:t>Together, these visuals give us a strong foundation for understanding customer behaviour and designing targeted marketing strategies.</a:t>
            </a:r>
          </a:p>
          <a:p>
            <a:endParaRPr lang="en-GB" dirty="0"/>
          </a:p>
          <a:p>
            <a:endParaRPr lang="en-GB" dirty="0"/>
          </a:p>
        </p:txBody>
      </p:sp>
      <p:sp>
        <p:nvSpPr>
          <p:cNvPr id="4" name="Slide Number Placeholder 3"/>
          <p:cNvSpPr>
            <a:spLocks noGrp="1"/>
          </p:cNvSpPr>
          <p:nvPr>
            <p:ph type="sldNum" sz="quarter" idx="5"/>
          </p:nvPr>
        </p:nvSpPr>
        <p:spPr/>
        <p:txBody>
          <a:bodyPr/>
          <a:lstStyle/>
          <a:p>
            <a:fld id="{33316266-4EF9-446E-B068-768F6CBB1044}" type="slidenum">
              <a:rPr lang="en-GB" smtClean="0"/>
              <a:t>5</a:t>
            </a:fld>
            <a:endParaRPr lang="en-GB"/>
          </a:p>
        </p:txBody>
      </p:sp>
    </p:spTree>
    <p:extLst>
      <p:ext uri="{BB962C8B-B14F-4D97-AF65-F5344CB8AC3E}">
        <p14:creationId xmlns:p14="http://schemas.microsoft.com/office/powerpoint/2010/main" val="4068160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Spending increases significantly with age, with customers aged 60+ spending the most. High‑income and highly educated segments also show higher average spend. Product spending is dominated by alcohol and non‑vegetarian categories, highlighting profitable segments.</a:t>
            </a:r>
          </a:p>
          <a:p>
            <a:endParaRPr lang="en-GB" dirty="0"/>
          </a:p>
        </p:txBody>
      </p:sp>
      <p:sp>
        <p:nvSpPr>
          <p:cNvPr id="4" name="Slide Number Placeholder 3"/>
          <p:cNvSpPr>
            <a:spLocks noGrp="1"/>
          </p:cNvSpPr>
          <p:nvPr>
            <p:ph type="sldNum" sz="quarter" idx="5"/>
          </p:nvPr>
        </p:nvSpPr>
        <p:spPr/>
        <p:txBody>
          <a:bodyPr/>
          <a:lstStyle/>
          <a:p>
            <a:fld id="{33316266-4EF9-446E-B068-768F6CBB1044}" type="slidenum">
              <a:rPr lang="en-GB" smtClean="0"/>
              <a:t>6</a:t>
            </a:fld>
            <a:endParaRPr lang="en-GB"/>
          </a:p>
        </p:txBody>
      </p:sp>
    </p:spTree>
    <p:extLst>
      <p:ext uri="{BB962C8B-B14F-4D97-AF65-F5344CB8AC3E}">
        <p14:creationId xmlns:p14="http://schemas.microsoft.com/office/powerpoint/2010/main" val="15310465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Digital channels clearly outperform print. Twitter, </a:t>
            </a:r>
            <a:r>
              <a:rPr lang="en-GB" sz="1200" b="0" i="0" kern="1200" dirty="0" err="1">
                <a:solidFill>
                  <a:schemeClr val="tx1"/>
                </a:solidFill>
                <a:effectLst/>
                <a:latin typeface="+mn-lt"/>
                <a:ea typeface="+mn-ea"/>
                <a:cs typeface="+mn-cs"/>
              </a:rPr>
              <a:t>Bulkmail</a:t>
            </a:r>
            <a:r>
              <a:rPr lang="en-GB" sz="1200" b="0" i="0" kern="1200" dirty="0">
                <a:solidFill>
                  <a:schemeClr val="tx1"/>
                </a:solidFill>
                <a:effectLst/>
                <a:latin typeface="+mn-lt"/>
                <a:ea typeface="+mn-ea"/>
                <a:cs typeface="+mn-cs"/>
              </a:rPr>
              <a:t>, Instagram, and Facebook generate high exposure, while brochures perform poorly. Overall, 20% of customers respond to ads, but response varies by country and education — showing potential for more personalised campaigns.</a:t>
            </a:r>
          </a:p>
          <a:p>
            <a:endParaRPr lang="en-GB" dirty="0"/>
          </a:p>
        </p:txBody>
      </p:sp>
      <p:sp>
        <p:nvSpPr>
          <p:cNvPr id="4" name="Slide Number Placeholder 3"/>
          <p:cNvSpPr>
            <a:spLocks noGrp="1"/>
          </p:cNvSpPr>
          <p:nvPr>
            <p:ph type="sldNum" sz="quarter" idx="5"/>
          </p:nvPr>
        </p:nvSpPr>
        <p:spPr/>
        <p:txBody>
          <a:bodyPr/>
          <a:lstStyle/>
          <a:p>
            <a:fld id="{33316266-4EF9-446E-B068-768F6CBB1044}" type="slidenum">
              <a:rPr lang="en-GB" smtClean="0"/>
              <a:t>7</a:t>
            </a:fld>
            <a:endParaRPr lang="en-GB"/>
          </a:p>
        </p:txBody>
      </p:sp>
    </p:spTree>
    <p:extLst>
      <p:ext uri="{BB962C8B-B14F-4D97-AF65-F5344CB8AC3E}">
        <p14:creationId xmlns:p14="http://schemas.microsoft.com/office/powerpoint/2010/main" val="32326700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GB" sz="1200" b="0" i="0" kern="1200" dirty="0">
                <a:solidFill>
                  <a:schemeClr val="tx1"/>
                </a:solidFill>
                <a:effectLst/>
                <a:latin typeface="+mn-lt"/>
                <a:ea typeface="+mn-ea"/>
                <a:cs typeface="+mn-cs"/>
              </a:rPr>
              <a:t>Here you can see the full customer insights dashboard I created in Tableau. At the top, the KPI cards summarise our key metrics: total revenue of 1.34 million, a customer base of 2,212 and an average customer age of 44.</a:t>
            </a:r>
          </a:p>
          <a:p>
            <a:pPr fontAlgn="t"/>
            <a:r>
              <a:rPr lang="en-GB" sz="1200" b="0" i="0" kern="1200" dirty="0">
                <a:solidFill>
                  <a:schemeClr val="tx1"/>
                </a:solidFill>
                <a:effectLst/>
                <a:latin typeface="+mn-lt"/>
                <a:ea typeface="+mn-ea"/>
                <a:cs typeface="+mn-cs"/>
              </a:rPr>
              <a:t>The visuals on this dashboard provide a consolidated overview of the three core analytical areas: demographics, spending behaviour and advertising effectiveness.</a:t>
            </a:r>
          </a:p>
          <a:p>
            <a:pPr fontAlgn="t"/>
            <a:r>
              <a:rPr lang="en-GB" sz="1200" b="0" i="0" kern="1200" dirty="0">
                <a:solidFill>
                  <a:schemeClr val="tx1"/>
                </a:solidFill>
                <a:effectLst/>
                <a:latin typeface="+mn-lt"/>
                <a:ea typeface="+mn-ea"/>
                <a:cs typeface="+mn-cs"/>
              </a:rPr>
              <a:t>On the left, the age distribution confirms that most customers fall between 40 and 60. The second chart shows how spending increases with age, particularly for customers aged 60 and above.</a:t>
            </a:r>
          </a:p>
          <a:p>
            <a:pPr fontAlgn="t"/>
            <a:r>
              <a:rPr lang="en-GB" sz="1200" b="0" i="0" kern="1200" dirty="0">
                <a:solidFill>
                  <a:schemeClr val="tx1"/>
                </a:solidFill>
                <a:effectLst/>
                <a:latin typeface="+mn-lt"/>
                <a:ea typeface="+mn-ea"/>
                <a:cs typeface="+mn-cs"/>
              </a:rPr>
              <a:t>The map highlights that Spain is our biggest customer segment, with strong contributions from South America and Canada.</a:t>
            </a:r>
          </a:p>
          <a:p>
            <a:pPr fontAlgn="t"/>
            <a:r>
              <a:rPr lang="en-GB" sz="1200" b="0" i="0" kern="1200" dirty="0">
                <a:solidFill>
                  <a:schemeClr val="tx1"/>
                </a:solidFill>
                <a:effectLst/>
                <a:latin typeface="+mn-lt"/>
                <a:ea typeface="+mn-ea"/>
                <a:cs typeface="+mn-cs"/>
              </a:rPr>
              <a:t>Finally, the advertising performance panel clearly illustrates that digital channels—especially Twitter, </a:t>
            </a:r>
            <a:r>
              <a:rPr lang="en-GB" sz="1200" b="0" i="0" kern="1200" dirty="0" err="1">
                <a:solidFill>
                  <a:schemeClr val="tx1"/>
                </a:solidFill>
                <a:effectLst/>
                <a:latin typeface="+mn-lt"/>
                <a:ea typeface="+mn-ea"/>
                <a:cs typeface="+mn-cs"/>
              </a:rPr>
              <a:t>Bulkmail</a:t>
            </a:r>
            <a:r>
              <a:rPr lang="en-GB" sz="1200" b="0" i="0" kern="1200" dirty="0">
                <a:solidFill>
                  <a:schemeClr val="tx1"/>
                </a:solidFill>
                <a:effectLst/>
                <a:latin typeface="+mn-lt"/>
                <a:ea typeface="+mn-ea"/>
                <a:cs typeface="+mn-cs"/>
              </a:rPr>
              <a:t> and Instagram—outperform brochures by a large margin.</a:t>
            </a:r>
          </a:p>
          <a:p>
            <a:pPr fontAlgn="t"/>
            <a:r>
              <a:rPr lang="en-GB" sz="1200" b="0" i="0" kern="1200" dirty="0">
                <a:solidFill>
                  <a:schemeClr val="tx1"/>
                </a:solidFill>
                <a:effectLst/>
                <a:latin typeface="+mn-lt"/>
                <a:ea typeface="+mn-ea"/>
                <a:cs typeface="+mn-cs"/>
              </a:rPr>
              <a:t>This dashboard allows 2Market to explore customer behaviour interactively using filters, making it a powerful tool for strategic decision-making</a:t>
            </a:r>
          </a:p>
          <a:p>
            <a:endParaRPr lang="en-GB" dirty="0"/>
          </a:p>
        </p:txBody>
      </p:sp>
      <p:sp>
        <p:nvSpPr>
          <p:cNvPr id="4" name="Slide Number Placeholder 3"/>
          <p:cNvSpPr>
            <a:spLocks noGrp="1"/>
          </p:cNvSpPr>
          <p:nvPr>
            <p:ph type="sldNum" sz="quarter" idx="5"/>
          </p:nvPr>
        </p:nvSpPr>
        <p:spPr/>
        <p:txBody>
          <a:bodyPr/>
          <a:lstStyle/>
          <a:p>
            <a:fld id="{33316266-4EF9-446E-B068-768F6CBB1044}" type="slidenum">
              <a:rPr lang="en-GB" smtClean="0"/>
              <a:t>8</a:t>
            </a:fld>
            <a:endParaRPr lang="en-GB"/>
          </a:p>
        </p:txBody>
      </p:sp>
    </p:spTree>
    <p:extLst>
      <p:ext uri="{BB962C8B-B14F-4D97-AF65-F5344CB8AC3E}">
        <p14:creationId xmlns:p14="http://schemas.microsoft.com/office/powerpoint/2010/main" val="31115880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Married customers have the highest exposure, followed by Together and Single groups.</a:t>
            </a:r>
            <a:br>
              <a:rPr lang="en-GB" sz="1200" b="0" i="0" kern="1200" dirty="0">
                <a:solidFill>
                  <a:schemeClr val="tx1"/>
                </a:solidFill>
                <a:effectLst/>
                <a:latin typeface="+mn-lt"/>
                <a:ea typeface="+mn-ea"/>
                <a:cs typeface="+mn-cs"/>
              </a:rPr>
            </a:br>
            <a:r>
              <a:rPr lang="en-GB" sz="1200" b="0" i="0" kern="1200" dirty="0">
                <a:solidFill>
                  <a:schemeClr val="tx1"/>
                </a:solidFill>
                <a:effectLst/>
                <a:latin typeface="+mn-lt"/>
                <a:ea typeface="+mn-ea"/>
                <a:cs typeface="+mn-cs"/>
              </a:rPr>
              <a:t>Divorced and Widowed segments show lower engagement, and Unknown is almost zero.</a:t>
            </a:r>
            <a:br>
              <a:rPr lang="en-GB" sz="1200" b="0" i="0" kern="1200" dirty="0">
                <a:solidFill>
                  <a:schemeClr val="tx1"/>
                </a:solidFill>
                <a:effectLst/>
                <a:latin typeface="+mn-lt"/>
                <a:ea typeface="+mn-ea"/>
                <a:cs typeface="+mn-cs"/>
              </a:rPr>
            </a:br>
            <a:r>
              <a:rPr lang="en-GB" sz="1200" b="0" i="0" kern="1200" dirty="0">
                <a:solidFill>
                  <a:schemeClr val="tx1"/>
                </a:solidFill>
                <a:effectLst/>
                <a:latin typeface="+mn-lt"/>
                <a:ea typeface="+mn-ea"/>
                <a:cs typeface="+mn-cs"/>
              </a:rPr>
              <a:t>This tells us which groups our digital campaigns reach most effectively.</a:t>
            </a:r>
          </a:p>
          <a:p>
            <a:endParaRPr lang="en-GB" dirty="0"/>
          </a:p>
        </p:txBody>
      </p:sp>
      <p:sp>
        <p:nvSpPr>
          <p:cNvPr id="4" name="Slide Number Placeholder 3"/>
          <p:cNvSpPr>
            <a:spLocks noGrp="1"/>
          </p:cNvSpPr>
          <p:nvPr>
            <p:ph type="sldNum" sz="quarter" idx="5"/>
          </p:nvPr>
        </p:nvSpPr>
        <p:spPr/>
        <p:txBody>
          <a:bodyPr/>
          <a:lstStyle/>
          <a:p>
            <a:fld id="{33316266-4EF9-446E-B068-768F6CBB1044}" type="slidenum">
              <a:rPr lang="en-GB" smtClean="0"/>
              <a:t>9</a:t>
            </a:fld>
            <a:endParaRPr lang="en-GB"/>
          </a:p>
        </p:txBody>
      </p:sp>
    </p:spTree>
    <p:extLst>
      <p:ext uri="{BB962C8B-B14F-4D97-AF65-F5344CB8AC3E}">
        <p14:creationId xmlns:p14="http://schemas.microsoft.com/office/powerpoint/2010/main" val="41894720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Spain shows the strongest exposure across all platforms.</a:t>
            </a:r>
            <a:br>
              <a:rPr lang="en-GB" sz="1200" b="0" i="0" kern="1200" dirty="0">
                <a:solidFill>
                  <a:schemeClr val="tx1"/>
                </a:solidFill>
                <a:effectLst/>
                <a:latin typeface="+mn-lt"/>
                <a:ea typeface="+mn-ea"/>
                <a:cs typeface="+mn-cs"/>
              </a:rPr>
            </a:br>
            <a:r>
              <a:rPr lang="en-GB" sz="1200" b="0" i="0" kern="1200" dirty="0">
                <a:solidFill>
                  <a:schemeClr val="tx1"/>
                </a:solidFill>
                <a:effectLst/>
                <a:latin typeface="+mn-lt"/>
                <a:ea typeface="+mn-ea"/>
                <a:cs typeface="+mn-cs"/>
              </a:rPr>
              <a:t>South America and Canada perform moderately well.</a:t>
            </a:r>
            <a:br>
              <a:rPr lang="en-GB" sz="1200" b="0" i="0" kern="1200" dirty="0">
                <a:solidFill>
                  <a:schemeClr val="tx1"/>
                </a:solidFill>
                <a:effectLst/>
                <a:latin typeface="+mn-lt"/>
                <a:ea typeface="+mn-ea"/>
                <a:cs typeface="+mn-cs"/>
              </a:rPr>
            </a:br>
            <a:r>
              <a:rPr lang="en-GB" sz="1200" b="0" i="0" kern="1200" dirty="0">
                <a:solidFill>
                  <a:schemeClr val="tx1"/>
                </a:solidFill>
                <a:effectLst/>
                <a:latin typeface="+mn-lt"/>
                <a:ea typeface="+mn-ea"/>
                <a:cs typeface="+mn-cs"/>
              </a:rPr>
              <a:t>Exposure is much lower in AUS, IND, GER and US, and the Middle East has no reach.</a:t>
            </a:r>
            <a:br>
              <a:rPr lang="en-GB" sz="1200" b="0" i="0" kern="1200" dirty="0">
                <a:solidFill>
                  <a:schemeClr val="tx1"/>
                </a:solidFill>
                <a:effectLst/>
                <a:latin typeface="+mn-lt"/>
                <a:ea typeface="+mn-ea"/>
                <a:cs typeface="+mn-cs"/>
              </a:rPr>
            </a:br>
            <a:r>
              <a:rPr lang="en-GB" sz="1200" b="0" i="0" kern="1200" dirty="0">
                <a:solidFill>
                  <a:schemeClr val="tx1"/>
                </a:solidFill>
                <a:effectLst/>
                <a:latin typeface="+mn-lt"/>
                <a:ea typeface="+mn-ea"/>
                <a:cs typeface="+mn-cs"/>
              </a:rPr>
              <a:t>This highlights where our digital marketing is most effective.</a:t>
            </a:r>
          </a:p>
          <a:p>
            <a:endParaRPr lang="en-GB" dirty="0"/>
          </a:p>
        </p:txBody>
      </p:sp>
      <p:sp>
        <p:nvSpPr>
          <p:cNvPr id="4" name="Slide Number Placeholder 3"/>
          <p:cNvSpPr>
            <a:spLocks noGrp="1"/>
          </p:cNvSpPr>
          <p:nvPr>
            <p:ph type="sldNum" sz="quarter" idx="5"/>
          </p:nvPr>
        </p:nvSpPr>
        <p:spPr/>
        <p:txBody>
          <a:bodyPr/>
          <a:lstStyle/>
          <a:p>
            <a:fld id="{33316266-4EF9-446E-B068-768F6CBB1044}" type="slidenum">
              <a:rPr lang="en-GB" smtClean="0"/>
              <a:t>10</a:t>
            </a:fld>
            <a:endParaRPr lang="en-GB"/>
          </a:p>
        </p:txBody>
      </p:sp>
    </p:spTree>
    <p:extLst>
      <p:ext uri="{BB962C8B-B14F-4D97-AF65-F5344CB8AC3E}">
        <p14:creationId xmlns:p14="http://schemas.microsoft.com/office/powerpoint/2010/main" val="6178590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Spain generates the highest spending, clearly matching its high platform exposure.</a:t>
            </a:r>
            <a:br>
              <a:rPr lang="en-GB" sz="1200" b="0" i="0" kern="1200" dirty="0">
                <a:solidFill>
                  <a:schemeClr val="tx1"/>
                </a:solidFill>
                <a:effectLst/>
                <a:latin typeface="+mn-lt"/>
                <a:ea typeface="+mn-ea"/>
                <a:cs typeface="+mn-cs"/>
              </a:rPr>
            </a:br>
            <a:r>
              <a:rPr lang="en-GB" sz="1200" b="0" i="0" kern="1200" dirty="0">
                <a:solidFill>
                  <a:schemeClr val="tx1"/>
                </a:solidFill>
                <a:effectLst/>
                <a:latin typeface="+mn-lt"/>
                <a:ea typeface="+mn-ea"/>
                <a:cs typeface="+mn-cs"/>
              </a:rPr>
              <a:t>South America and Canada also show good spending and engagement.</a:t>
            </a:r>
            <a:br>
              <a:rPr lang="en-GB" sz="1200" b="0" i="0" kern="1200" dirty="0">
                <a:solidFill>
                  <a:schemeClr val="tx1"/>
                </a:solidFill>
                <a:effectLst/>
                <a:latin typeface="+mn-lt"/>
                <a:ea typeface="+mn-ea"/>
                <a:cs typeface="+mn-cs"/>
              </a:rPr>
            </a:br>
            <a:r>
              <a:rPr lang="en-GB" sz="1200" b="0" i="0" kern="1200" dirty="0">
                <a:solidFill>
                  <a:schemeClr val="tx1"/>
                </a:solidFill>
                <a:effectLst/>
                <a:latin typeface="+mn-lt"/>
                <a:ea typeface="+mn-ea"/>
                <a:cs typeface="+mn-cs"/>
              </a:rPr>
              <a:t>Countries with low exposure, like AUS, IND and the US, also have lower spending.</a:t>
            </a:r>
            <a:br>
              <a:rPr lang="en-GB" sz="1200" b="0" i="0" kern="1200" dirty="0">
                <a:solidFill>
                  <a:schemeClr val="tx1"/>
                </a:solidFill>
                <a:effectLst/>
                <a:latin typeface="+mn-lt"/>
                <a:ea typeface="+mn-ea"/>
                <a:cs typeface="+mn-cs"/>
              </a:rPr>
            </a:br>
            <a:r>
              <a:rPr lang="en-GB" sz="1200" b="0" i="0" kern="1200" dirty="0">
                <a:solidFill>
                  <a:schemeClr val="tx1"/>
                </a:solidFill>
                <a:effectLst/>
                <a:latin typeface="+mn-lt"/>
                <a:ea typeface="+mn-ea"/>
                <a:cs typeface="+mn-cs"/>
              </a:rPr>
              <a:t>This shows a strong link between digital reach and customer spending.</a:t>
            </a:r>
          </a:p>
          <a:p>
            <a:endParaRPr lang="en-GB" dirty="0"/>
          </a:p>
        </p:txBody>
      </p:sp>
      <p:sp>
        <p:nvSpPr>
          <p:cNvPr id="4" name="Slide Number Placeholder 3"/>
          <p:cNvSpPr>
            <a:spLocks noGrp="1"/>
          </p:cNvSpPr>
          <p:nvPr>
            <p:ph type="sldNum" sz="quarter" idx="5"/>
          </p:nvPr>
        </p:nvSpPr>
        <p:spPr/>
        <p:txBody>
          <a:bodyPr/>
          <a:lstStyle/>
          <a:p>
            <a:fld id="{33316266-4EF9-446E-B068-768F6CBB1044}" type="slidenum">
              <a:rPr lang="en-GB" smtClean="0"/>
              <a:t>11</a:t>
            </a:fld>
            <a:endParaRPr lang="en-GB"/>
          </a:p>
        </p:txBody>
      </p:sp>
    </p:spTree>
    <p:extLst>
      <p:ext uri="{BB962C8B-B14F-4D97-AF65-F5344CB8AC3E}">
        <p14:creationId xmlns:p14="http://schemas.microsoft.com/office/powerpoint/2010/main" val="20908145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These insights show who we reach best, which regions respond strongest, and how exposure links directly to spending. This helps shape where marketing investment should go</a:t>
            </a:r>
          </a:p>
          <a:p>
            <a:endParaRPr lang="en-GB" dirty="0"/>
          </a:p>
        </p:txBody>
      </p:sp>
      <p:sp>
        <p:nvSpPr>
          <p:cNvPr id="4" name="Slide Number Placeholder 3"/>
          <p:cNvSpPr>
            <a:spLocks noGrp="1"/>
          </p:cNvSpPr>
          <p:nvPr>
            <p:ph type="sldNum" sz="quarter" idx="5"/>
          </p:nvPr>
        </p:nvSpPr>
        <p:spPr/>
        <p:txBody>
          <a:bodyPr/>
          <a:lstStyle/>
          <a:p>
            <a:fld id="{33316266-4EF9-446E-B068-768F6CBB1044}" type="slidenum">
              <a:rPr lang="en-GB" smtClean="0"/>
              <a:t>12</a:t>
            </a:fld>
            <a:endParaRPr lang="en-GB"/>
          </a:p>
        </p:txBody>
      </p:sp>
    </p:spTree>
    <p:extLst>
      <p:ext uri="{BB962C8B-B14F-4D97-AF65-F5344CB8AC3E}">
        <p14:creationId xmlns:p14="http://schemas.microsoft.com/office/powerpoint/2010/main" val="21072432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Based on the patterns, we should increase investment in markets with strong reach, tailor messages to high‑engagement groups, and rethink our strategy in low‑reach countries.</a:t>
            </a:r>
          </a:p>
          <a:p>
            <a:endParaRPr lang="en-GB" dirty="0"/>
          </a:p>
        </p:txBody>
      </p:sp>
      <p:sp>
        <p:nvSpPr>
          <p:cNvPr id="4" name="Slide Number Placeholder 3"/>
          <p:cNvSpPr>
            <a:spLocks noGrp="1"/>
          </p:cNvSpPr>
          <p:nvPr>
            <p:ph type="sldNum" sz="quarter" idx="5"/>
          </p:nvPr>
        </p:nvSpPr>
        <p:spPr/>
        <p:txBody>
          <a:bodyPr/>
          <a:lstStyle/>
          <a:p>
            <a:fld id="{33316266-4EF9-446E-B068-768F6CBB1044}" type="slidenum">
              <a:rPr lang="en-GB" smtClean="0"/>
              <a:t>13</a:t>
            </a:fld>
            <a:endParaRPr lang="en-GB"/>
          </a:p>
        </p:txBody>
      </p:sp>
    </p:spTree>
    <p:extLst>
      <p:ext uri="{BB962C8B-B14F-4D97-AF65-F5344CB8AC3E}">
        <p14:creationId xmlns:p14="http://schemas.microsoft.com/office/powerpoint/2010/main" val="24287733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These actions improve efficiency, reduce waste, and ensure campaigns are better aligned with customer behaviour across different regions and groups.</a:t>
            </a:r>
          </a:p>
          <a:p>
            <a:endParaRPr lang="en-GB" dirty="0"/>
          </a:p>
        </p:txBody>
      </p:sp>
      <p:sp>
        <p:nvSpPr>
          <p:cNvPr id="4" name="Slide Number Placeholder 3"/>
          <p:cNvSpPr>
            <a:spLocks noGrp="1"/>
          </p:cNvSpPr>
          <p:nvPr>
            <p:ph type="sldNum" sz="quarter" idx="5"/>
          </p:nvPr>
        </p:nvSpPr>
        <p:spPr/>
        <p:txBody>
          <a:bodyPr/>
          <a:lstStyle/>
          <a:p>
            <a:fld id="{33316266-4EF9-446E-B068-768F6CBB1044}" type="slidenum">
              <a:rPr lang="en-GB" smtClean="0"/>
              <a:t>14</a:t>
            </a:fld>
            <a:endParaRPr lang="en-GB"/>
          </a:p>
        </p:txBody>
      </p:sp>
    </p:spTree>
    <p:extLst>
      <p:ext uri="{BB962C8B-B14F-4D97-AF65-F5344CB8AC3E}">
        <p14:creationId xmlns:p14="http://schemas.microsoft.com/office/powerpoint/2010/main" val="36498952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In conclusion, data‑driven insights give 2Market a clear roadmap for smarter marketing decisions, stronger customer engagement, and better return on investment</a:t>
            </a:r>
          </a:p>
          <a:p>
            <a:endParaRPr lang="en-GB" dirty="0"/>
          </a:p>
        </p:txBody>
      </p:sp>
      <p:sp>
        <p:nvSpPr>
          <p:cNvPr id="4" name="Slide Number Placeholder 3"/>
          <p:cNvSpPr>
            <a:spLocks noGrp="1"/>
          </p:cNvSpPr>
          <p:nvPr>
            <p:ph type="sldNum" sz="quarter" idx="5"/>
          </p:nvPr>
        </p:nvSpPr>
        <p:spPr/>
        <p:txBody>
          <a:bodyPr/>
          <a:lstStyle/>
          <a:p>
            <a:fld id="{33316266-4EF9-446E-B068-768F6CBB1044}" type="slidenum">
              <a:rPr lang="en-GB" smtClean="0"/>
              <a:t>15</a:t>
            </a:fld>
            <a:endParaRPr lang="en-GB"/>
          </a:p>
        </p:txBody>
      </p:sp>
    </p:spTree>
    <p:extLst>
      <p:ext uri="{BB962C8B-B14F-4D97-AF65-F5344CB8AC3E}">
        <p14:creationId xmlns:p14="http://schemas.microsoft.com/office/powerpoint/2010/main" val="24125530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4/7/2026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77503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4/7/2026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891251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4/7/2026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1620352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4/7/2026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922258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4/7/2026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566017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4/7/2026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361961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4/7/2026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661655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4/7/2026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46326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4/7/2026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1475215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4/7/2026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2499302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4/7/2026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267723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4/7/2026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8025161"/>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hyperlink" Target="https://www.freestock.com/free-videos/animation-full-fluttering-national-flag-mongolia-2479400" TargetMode="Externa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chart" Target="../charts/chart2.xml"/><Relationship Id="rId4" Type="http://schemas.openxmlformats.org/officeDocument/2006/relationships/chart" Target="../charts/char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chart" Target="../charts/char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6" name="Picture 5">
            <a:extLst>
              <a:ext uri="{FF2B5EF4-FFF2-40B4-BE49-F238E27FC236}">
                <a16:creationId xmlns:a16="http://schemas.microsoft.com/office/drawing/2014/main" id="{63851E66-E7F4-DE25-8774-9017C5A336AA}"/>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r="9091" b="9091"/>
          <a:stretch>
            <a:fillRect/>
          </a:stretch>
        </p:blipFill>
        <p:spPr>
          <a:xfrm>
            <a:off x="20" y="10"/>
            <a:ext cx="12191979" cy="6857990"/>
          </a:xfrm>
          <a:prstGeom prst="rect">
            <a:avLst/>
          </a:prstGeom>
        </p:spPr>
      </p:pic>
      <p:sp>
        <p:nvSpPr>
          <p:cNvPr id="57" name="Rectangle 56">
            <a:extLst>
              <a:ext uri="{FF2B5EF4-FFF2-40B4-BE49-F238E27FC236}">
                <a16:creationId xmlns:a16="http://schemas.microsoft.com/office/drawing/2014/main" id="{D21F66AB-6D67-4C86-A415-0B6E4EEC5A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3811" y="423809"/>
            <a:ext cx="6858002" cy="6010383"/>
          </a:xfrm>
          <a:prstGeom prst="rect">
            <a:avLst/>
          </a:prstGeom>
          <a:gradFill>
            <a:gsLst>
              <a:gs pos="0">
                <a:schemeClr val="bg1">
                  <a:alpha val="0"/>
                </a:schemeClr>
              </a:gs>
              <a:gs pos="46000">
                <a:schemeClr val="bg1">
                  <a:alpha val="31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 name="Title 1">
            <a:extLst>
              <a:ext uri="{FF2B5EF4-FFF2-40B4-BE49-F238E27FC236}">
                <a16:creationId xmlns:a16="http://schemas.microsoft.com/office/drawing/2014/main" id="{A55649D3-C120-69EA-E199-A484128DD106}"/>
              </a:ext>
            </a:extLst>
          </p:cNvPr>
          <p:cNvSpPr>
            <a:spLocks noGrp="1"/>
          </p:cNvSpPr>
          <p:nvPr>
            <p:ph type="ctrTitle"/>
          </p:nvPr>
        </p:nvSpPr>
        <p:spPr>
          <a:xfrm>
            <a:off x="313786" y="908651"/>
            <a:ext cx="7309886" cy="2520347"/>
          </a:xfrm>
        </p:spPr>
        <p:txBody>
          <a:bodyPr anchor="t">
            <a:normAutofit fontScale="90000"/>
          </a:bodyPr>
          <a:lstStyle/>
          <a:p>
            <a:pPr>
              <a:lnSpc>
                <a:spcPct val="90000"/>
              </a:lnSpc>
            </a:pPr>
            <a:r>
              <a:rPr lang="en-GB" sz="5800" dirty="0"/>
              <a:t>2Market Customer Insights &amp; Marketing strategy</a:t>
            </a:r>
            <a:br>
              <a:rPr lang="en-GB" sz="5800" dirty="0"/>
            </a:br>
            <a:br>
              <a:rPr lang="en-GB" sz="5800" dirty="0"/>
            </a:br>
            <a:r>
              <a:rPr lang="en-GB" sz="5800" dirty="0"/>
              <a:t> </a:t>
            </a:r>
          </a:p>
        </p:txBody>
      </p:sp>
      <p:sp>
        <p:nvSpPr>
          <p:cNvPr id="3" name="Subtitle 2">
            <a:extLst>
              <a:ext uri="{FF2B5EF4-FFF2-40B4-BE49-F238E27FC236}">
                <a16:creationId xmlns:a16="http://schemas.microsoft.com/office/drawing/2014/main" id="{12172B7F-6F26-78A9-4BED-BC5878F74377}"/>
              </a:ext>
            </a:extLst>
          </p:cNvPr>
          <p:cNvSpPr>
            <a:spLocks noGrp="1"/>
          </p:cNvSpPr>
          <p:nvPr>
            <p:ph type="subTitle" idx="1"/>
          </p:nvPr>
        </p:nvSpPr>
        <p:spPr>
          <a:xfrm>
            <a:off x="313787" y="5050632"/>
            <a:ext cx="3793200" cy="1129888"/>
          </a:xfrm>
        </p:spPr>
        <p:txBody>
          <a:bodyPr anchor="b">
            <a:normAutofit/>
          </a:bodyPr>
          <a:lstStyle/>
          <a:p>
            <a:r>
              <a:rPr lang="en-GB" sz="2200" dirty="0"/>
              <a:t>Saadia Adnan </a:t>
            </a:r>
          </a:p>
        </p:txBody>
      </p:sp>
      <p:cxnSp>
        <p:nvCxnSpPr>
          <p:cNvPr id="59" name="Straight Connector 58">
            <a:extLst>
              <a:ext uri="{FF2B5EF4-FFF2-40B4-BE49-F238E27FC236}">
                <a16:creationId xmlns:a16="http://schemas.microsoft.com/office/drawing/2014/main" id="{0B66F5E1-B07D-4718-F4B4-5FCE4B7E8F4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9006" y="727509"/>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3078" name="Picture 6" descr="LSE Logo PNG (Transparent) SVG AI – Free Download">
            <a:extLst>
              <a:ext uri="{FF2B5EF4-FFF2-40B4-BE49-F238E27FC236}">
                <a16:creationId xmlns:a16="http://schemas.microsoft.com/office/drawing/2014/main" id="{8E0FAAAC-55E3-7A9A-94F5-9680D342F10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68559" y="6202621"/>
            <a:ext cx="409654" cy="409654"/>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AF57A0AA-C878-9253-83CB-BF400DA542B0}"/>
              </a:ext>
            </a:extLst>
          </p:cNvPr>
          <p:cNvSpPr txBox="1"/>
          <p:nvPr/>
        </p:nvSpPr>
        <p:spPr>
          <a:xfrm>
            <a:off x="313786" y="4851111"/>
            <a:ext cx="9326027" cy="584775"/>
          </a:xfrm>
          <a:prstGeom prst="rect">
            <a:avLst/>
          </a:prstGeom>
          <a:noFill/>
        </p:spPr>
        <p:txBody>
          <a:bodyPr wrap="square" rtlCol="0">
            <a:spAutoFit/>
          </a:bodyPr>
          <a:lstStyle/>
          <a:p>
            <a:r>
              <a:rPr lang="en-GB" sz="3200" b="1" dirty="0"/>
              <a:t>Enhancing Decision-Making through Analytics</a:t>
            </a:r>
          </a:p>
        </p:txBody>
      </p:sp>
    </p:spTree>
    <p:extLst>
      <p:ext uri="{BB962C8B-B14F-4D97-AF65-F5344CB8AC3E}">
        <p14:creationId xmlns:p14="http://schemas.microsoft.com/office/powerpoint/2010/main" val="37602360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23808"/>
    </mc:Choice>
    <mc:Fallback xmlns="">
      <p:transition spd="slow" advTm="2380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985184E4-C93A-4E34-8365-1886AAC5DE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EC9A45-5A26-D07F-F6A3-4DC5012D828A}"/>
              </a:ext>
            </a:extLst>
          </p:cNvPr>
          <p:cNvSpPr>
            <a:spLocks noGrp="1"/>
          </p:cNvSpPr>
          <p:nvPr>
            <p:ph type="title"/>
          </p:nvPr>
        </p:nvSpPr>
        <p:spPr>
          <a:xfrm>
            <a:off x="704088" y="554762"/>
            <a:ext cx="3623818" cy="4559890"/>
          </a:xfrm>
        </p:spPr>
        <p:txBody>
          <a:bodyPr>
            <a:normAutofit/>
          </a:bodyPr>
          <a:lstStyle/>
          <a:p>
            <a:r>
              <a:rPr lang="en-GB"/>
              <a:t>Business problem &amp; strategic objective</a:t>
            </a:r>
          </a:p>
        </p:txBody>
      </p:sp>
      <p:cxnSp>
        <p:nvCxnSpPr>
          <p:cNvPr id="41" name="Straight Connector 40">
            <a:extLst>
              <a:ext uri="{FF2B5EF4-FFF2-40B4-BE49-F238E27FC236}">
                <a16:creationId xmlns:a16="http://schemas.microsoft.com/office/drawing/2014/main" id="{8AB0D40B-37F7-4F1F-B956-AFC12066AB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868972" y="723901"/>
            <a:ext cx="15948" cy="54500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2" name="Content Placeholder 2">
            <a:extLst>
              <a:ext uri="{FF2B5EF4-FFF2-40B4-BE49-F238E27FC236}">
                <a16:creationId xmlns:a16="http://schemas.microsoft.com/office/drawing/2014/main" id="{30236314-3CA0-6F9A-8367-ED358D103F5F}"/>
              </a:ext>
            </a:extLst>
          </p:cNvPr>
          <p:cNvGraphicFramePr>
            <a:graphicFrameLocks noGrp="1"/>
          </p:cNvGraphicFramePr>
          <p:nvPr>
            <p:ph idx="1"/>
            <p:extLst>
              <p:ext uri="{D42A27DB-BD31-4B8C-83A1-F6EECF244321}">
                <p14:modId xmlns:p14="http://schemas.microsoft.com/office/powerpoint/2010/main" val="614735795"/>
              </p:ext>
            </p:extLst>
          </p:nvPr>
        </p:nvGraphicFramePr>
        <p:xfrm>
          <a:off x="5715000" y="723900"/>
          <a:ext cx="5715000" cy="5410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15874112"/>
      </p:ext>
    </p:extLst>
  </p:cSld>
  <p:clrMapOvr>
    <a:masterClrMapping/>
  </p:clrMapOvr>
  <mc:AlternateContent xmlns:mc="http://schemas.openxmlformats.org/markup-compatibility/2006" xmlns:p14="http://schemas.microsoft.com/office/powerpoint/2010/main">
    <mc:Choice Requires="p14">
      <p:transition spd="slow" p14:dur="2000" advTm="35296"/>
    </mc:Choice>
    <mc:Fallback xmlns="">
      <p:transition spd="slow" advTm="35296"/>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74A67-A145-D717-EDF0-C64AF6096E60}"/>
              </a:ext>
            </a:extLst>
          </p:cNvPr>
          <p:cNvSpPr>
            <a:spLocks noGrp="1"/>
          </p:cNvSpPr>
          <p:nvPr>
            <p:ph type="title"/>
          </p:nvPr>
        </p:nvSpPr>
        <p:spPr>
          <a:xfrm>
            <a:off x="700635" y="914400"/>
            <a:ext cx="10691265" cy="850605"/>
          </a:xfrm>
        </p:spPr>
        <p:txBody>
          <a:bodyPr/>
          <a:lstStyle/>
          <a:p>
            <a:pPr algn="ctr"/>
            <a:r>
              <a:rPr lang="en-GB" dirty="0"/>
              <a:t>IDEAL - PROBLEM Solving FRAMEWORK </a:t>
            </a:r>
          </a:p>
        </p:txBody>
      </p:sp>
      <p:graphicFrame>
        <p:nvGraphicFramePr>
          <p:cNvPr id="5" name="Diagram 4">
            <a:extLst>
              <a:ext uri="{FF2B5EF4-FFF2-40B4-BE49-F238E27FC236}">
                <a16:creationId xmlns:a16="http://schemas.microsoft.com/office/drawing/2014/main" id="{66840F65-4FCE-5468-126F-4587C2EE7705}"/>
              </a:ext>
            </a:extLst>
          </p:cNvPr>
          <p:cNvGraphicFramePr/>
          <p:nvPr>
            <p:extLst>
              <p:ext uri="{D42A27DB-BD31-4B8C-83A1-F6EECF244321}">
                <p14:modId xmlns:p14="http://schemas.microsoft.com/office/powerpoint/2010/main" val="1492706623"/>
              </p:ext>
            </p:extLst>
          </p:nvPr>
        </p:nvGraphicFramePr>
        <p:xfrm>
          <a:off x="831997" y="1765004"/>
          <a:ext cx="10691265" cy="43061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33970045"/>
      </p:ext>
    </p:extLst>
  </p:cSld>
  <p:clrMapOvr>
    <a:masterClrMapping/>
  </p:clrMapOvr>
  <mc:AlternateContent xmlns:mc="http://schemas.openxmlformats.org/markup-compatibility/2006" xmlns:p14="http://schemas.microsoft.com/office/powerpoint/2010/main">
    <mc:Choice Requires="p14">
      <p:transition spd="slow" p14:dur="2000" advTm="30730"/>
    </mc:Choice>
    <mc:Fallback xmlns="">
      <p:transition spd="slow" advTm="3073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037A7-9A2F-B01B-CD0E-D4227EB54A76}"/>
              </a:ext>
            </a:extLst>
          </p:cNvPr>
          <p:cNvSpPr>
            <a:spLocks noGrp="1"/>
          </p:cNvSpPr>
          <p:nvPr>
            <p:ph type="title"/>
          </p:nvPr>
        </p:nvSpPr>
        <p:spPr/>
        <p:txBody>
          <a:bodyPr/>
          <a:lstStyle/>
          <a:p>
            <a:pPr algn="ctr"/>
            <a:r>
              <a:rPr lang="en-GB" dirty="0"/>
              <a:t>Data Preparation &amp; SQL Process</a:t>
            </a:r>
          </a:p>
        </p:txBody>
      </p:sp>
      <p:graphicFrame>
        <p:nvGraphicFramePr>
          <p:cNvPr id="4" name="Diagram 3">
            <a:extLst>
              <a:ext uri="{FF2B5EF4-FFF2-40B4-BE49-F238E27FC236}">
                <a16:creationId xmlns:a16="http://schemas.microsoft.com/office/drawing/2014/main" id="{934D7268-B91F-197E-30D5-6E2CA34A07E0}"/>
              </a:ext>
            </a:extLst>
          </p:cNvPr>
          <p:cNvGraphicFramePr/>
          <p:nvPr>
            <p:extLst>
              <p:ext uri="{D42A27DB-BD31-4B8C-83A1-F6EECF244321}">
                <p14:modId xmlns:p14="http://schemas.microsoft.com/office/powerpoint/2010/main" val="1270975127"/>
              </p:ext>
            </p:extLst>
          </p:nvPr>
        </p:nvGraphicFramePr>
        <p:xfrm>
          <a:off x="4027487" y="1931670"/>
          <a:ext cx="4316413" cy="411353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6DBC19DE-F1C0-6D38-9E87-FD3B4BA17E31}"/>
              </a:ext>
            </a:extLst>
          </p:cNvPr>
          <p:cNvSpPr txBox="1"/>
          <p:nvPr/>
        </p:nvSpPr>
        <p:spPr>
          <a:xfrm>
            <a:off x="3048000" y="6344164"/>
            <a:ext cx="6096000" cy="392672"/>
          </a:xfrm>
          <a:prstGeom prst="rect">
            <a:avLst/>
          </a:prstGeom>
          <a:noFill/>
        </p:spPr>
        <p:txBody>
          <a:bodyPr wrap="square">
            <a:spAutoFit/>
          </a:bodyPr>
          <a:lstStyle/>
          <a:p>
            <a:pPr algn="ctr">
              <a:lnSpc>
                <a:spcPct val="115000"/>
              </a:lnSpc>
              <a:spcAft>
                <a:spcPts val="800"/>
              </a:spcAft>
              <a:buNone/>
            </a:pPr>
            <a:r>
              <a:rPr lang="en-GB" sz="1800" i="1" kern="100" dirty="0">
                <a:solidFill>
                  <a:srgbClr val="000000"/>
                </a:solidFill>
                <a:effectLst/>
                <a:latin typeface="Arial" panose="020B0604020202020204" pitchFamily="34" charset="0"/>
                <a:ea typeface="Aptos" panose="020B0004020202020204" pitchFamily="34" charset="0"/>
                <a:cs typeface="Times New Roman" panose="02020603050405020304" pitchFamily="18" charset="0"/>
              </a:rPr>
              <a:t>Visual diagram of SQL flow</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532258070"/>
      </p:ext>
    </p:extLst>
  </p:cSld>
  <p:clrMapOvr>
    <a:masterClrMapping/>
  </p:clrMapOvr>
  <mc:AlternateContent xmlns:mc="http://schemas.openxmlformats.org/markup-compatibility/2006" xmlns:p14="http://schemas.microsoft.com/office/powerpoint/2010/main">
    <mc:Choice Requires="p14">
      <p:transition spd="slow" p14:dur="2000" advTm="38288"/>
    </mc:Choice>
    <mc:Fallback xmlns="">
      <p:transition spd="slow" advTm="38288"/>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FCE6E-D7E0-952F-9AFE-132CA77F8E73}"/>
              </a:ext>
            </a:extLst>
          </p:cNvPr>
          <p:cNvSpPr>
            <a:spLocks noGrp="1"/>
          </p:cNvSpPr>
          <p:nvPr>
            <p:ph type="title"/>
          </p:nvPr>
        </p:nvSpPr>
        <p:spPr/>
        <p:txBody>
          <a:bodyPr/>
          <a:lstStyle/>
          <a:p>
            <a:r>
              <a:rPr lang="en-GB"/>
              <a:t>CUSTOMER DEMOGRAPHICS</a:t>
            </a:r>
            <a:endParaRPr lang="en-GB" dirty="0"/>
          </a:p>
        </p:txBody>
      </p:sp>
      <p:pic>
        <p:nvPicPr>
          <p:cNvPr id="10" name="Picture 9">
            <a:extLst>
              <a:ext uri="{FF2B5EF4-FFF2-40B4-BE49-F238E27FC236}">
                <a16:creationId xmlns:a16="http://schemas.microsoft.com/office/drawing/2014/main" id="{09DFF739-669A-F6AE-AF1B-FD24E378675C}"/>
              </a:ext>
            </a:extLst>
          </p:cNvPr>
          <p:cNvPicPr>
            <a:picLocks noChangeAspect="1"/>
          </p:cNvPicPr>
          <p:nvPr/>
        </p:nvPicPr>
        <p:blipFill>
          <a:blip r:embed="rId3"/>
          <a:srcRect t="14791"/>
          <a:stretch>
            <a:fillRect/>
          </a:stretch>
        </p:blipFill>
        <p:spPr>
          <a:xfrm>
            <a:off x="0" y="288757"/>
            <a:ext cx="12192000" cy="5931569"/>
          </a:xfrm>
          <a:prstGeom prst="rect">
            <a:avLst/>
          </a:prstGeom>
        </p:spPr>
      </p:pic>
    </p:spTree>
    <p:extLst>
      <p:ext uri="{BB962C8B-B14F-4D97-AF65-F5344CB8AC3E}">
        <p14:creationId xmlns:p14="http://schemas.microsoft.com/office/powerpoint/2010/main" val="3600190985"/>
      </p:ext>
    </p:extLst>
  </p:cSld>
  <p:clrMapOvr>
    <a:masterClrMapping/>
  </p:clrMapOvr>
  <mc:AlternateContent xmlns:mc="http://schemas.openxmlformats.org/markup-compatibility/2006" xmlns:p14="http://schemas.microsoft.com/office/powerpoint/2010/main">
    <mc:Choice Requires="p14">
      <p:transition spd="slow" p14:dur="2000" advTm="97285"/>
    </mc:Choice>
    <mc:Fallback xmlns="">
      <p:transition spd="slow" advTm="97285"/>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1262F-6B84-BE4F-4321-C324D8BD9A1F}"/>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031762D6-7A5A-62D3-E17F-8A246A4A2AAD}"/>
              </a:ext>
            </a:extLst>
          </p:cNvPr>
          <p:cNvSpPr>
            <a:spLocks noGrp="1"/>
          </p:cNvSpPr>
          <p:nvPr>
            <p:ph idx="1"/>
          </p:nvPr>
        </p:nvSpPr>
        <p:spPr/>
        <p:txBody>
          <a:bodyPr/>
          <a:lstStyle/>
          <a:p>
            <a:endParaRPr lang="en-GB"/>
          </a:p>
        </p:txBody>
      </p:sp>
      <p:pic>
        <p:nvPicPr>
          <p:cNvPr id="6" name="Picture 5">
            <a:extLst>
              <a:ext uri="{FF2B5EF4-FFF2-40B4-BE49-F238E27FC236}">
                <a16:creationId xmlns:a16="http://schemas.microsoft.com/office/drawing/2014/main" id="{D757FDF7-0B53-6DC8-AC51-6F4E5BEC7148}"/>
              </a:ext>
            </a:extLst>
          </p:cNvPr>
          <p:cNvPicPr>
            <a:picLocks noChangeAspect="1"/>
          </p:cNvPicPr>
          <p:nvPr/>
        </p:nvPicPr>
        <p:blipFill>
          <a:blip r:embed="rId3"/>
          <a:srcRect t="15313"/>
          <a:stretch>
            <a:fillRect/>
          </a:stretch>
        </p:blipFill>
        <p:spPr>
          <a:xfrm>
            <a:off x="37475" y="336884"/>
            <a:ext cx="12154525" cy="6003758"/>
          </a:xfrm>
          <a:prstGeom prst="rect">
            <a:avLst/>
          </a:prstGeom>
        </p:spPr>
      </p:pic>
    </p:spTree>
    <p:extLst>
      <p:ext uri="{BB962C8B-B14F-4D97-AF65-F5344CB8AC3E}">
        <p14:creationId xmlns:p14="http://schemas.microsoft.com/office/powerpoint/2010/main" val="216959280"/>
      </p:ext>
    </p:extLst>
  </p:cSld>
  <p:clrMapOvr>
    <a:masterClrMapping/>
  </p:clrMapOvr>
  <mc:AlternateContent xmlns:mc="http://schemas.openxmlformats.org/markup-compatibility/2006" xmlns:p14="http://schemas.microsoft.com/office/powerpoint/2010/main">
    <mc:Choice Requires="p14">
      <p:transition spd="slow" p14:dur="2000" advTm="27224"/>
    </mc:Choice>
    <mc:Fallback xmlns="">
      <p:transition spd="slow" advTm="27224"/>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FC853-9820-11C4-36ED-BA95255DC557}"/>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19C31578-375D-F235-C539-F4EE90435E92}"/>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CD8D00DB-3EDE-9F55-41B6-93C4FD679A02}"/>
              </a:ext>
            </a:extLst>
          </p:cNvPr>
          <p:cNvPicPr>
            <a:picLocks noChangeAspect="1"/>
          </p:cNvPicPr>
          <p:nvPr/>
        </p:nvPicPr>
        <p:blipFill>
          <a:blip r:embed="rId3"/>
          <a:srcRect t="14706"/>
          <a:stretch>
            <a:fillRect/>
          </a:stretch>
        </p:blipFill>
        <p:spPr>
          <a:xfrm>
            <a:off x="37475" y="409074"/>
            <a:ext cx="12154525" cy="5931567"/>
          </a:xfrm>
          <a:prstGeom prst="rect">
            <a:avLst/>
          </a:prstGeom>
        </p:spPr>
      </p:pic>
    </p:spTree>
    <p:extLst>
      <p:ext uri="{BB962C8B-B14F-4D97-AF65-F5344CB8AC3E}">
        <p14:creationId xmlns:p14="http://schemas.microsoft.com/office/powerpoint/2010/main" val="3125658745"/>
      </p:ext>
    </p:extLst>
  </p:cSld>
  <p:clrMapOvr>
    <a:masterClrMapping/>
  </p:clrMapOvr>
  <mc:AlternateContent xmlns:mc="http://schemas.openxmlformats.org/markup-compatibility/2006" xmlns:p14="http://schemas.microsoft.com/office/powerpoint/2010/main">
    <mc:Choice Requires="p14">
      <p:transition spd="slow" p14:dur="2000" advTm="34330"/>
    </mc:Choice>
    <mc:Fallback xmlns="">
      <p:transition spd="slow" advTm="3433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94A98-68AB-14ED-C89B-457D0EAA270B}"/>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2F12EA42-DA7C-5702-DAB3-356426DD94FD}"/>
              </a:ext>
            </a:extLst>
          </p:cNvPr>
          <p:cNvSpPr>
            <a:spLocks noGrp="1"/>
          </p:cNvSpPr>
          <p:nvPr>
            <p:ph idx="1"/>
          </p:nvPr>
        </p:nvSpPr>
        <p:spPr/>
        <p:txBody>
          <a:bodyPr/>
          <a:lstStyle/>
          <a:p>
            <a:endParaRPr lang="en-GB"/>
          </a:p>
        </p:txBody>
      </p:sp>
      <p:pic>
        <p:nvPicPr>
          <p:cNvPr id="7" name="Picture 6">
            <a:extLst>
              <a:ext uri="{FF2B5EF4-FFF2-40B4-BE49-F238E27FC236}">
                <a16:creationId xmlns:a16="http://schemas.microsoft.com/office/drawing/2014/main" id="{0CAC9067-16E9-92C3-BCD1-DD0EF424DC8D}"/>
              </a:ext>
            </a:extLst>
          </p:cNvPr>
          <p:cNvPicPr>
            <a:picLocks noChangeAspect="1"/>
          </p:cNvPicPr>
          <p:nvPr/>
        </p:nvPicPr>
        <p:blipFill>
          <a:blip r:embed="rId3"/>
          <a:stretch>
            <a:fillRect/>
          </a:stretch>
        </p:blipFill>
        <p:spPr>
          <a:xfrm>
            <a:off x="15562" y="264695"/>
            <a:ext cx="12160875" cy="6148137"/>
          </a:xfrm>
          <a:prstGeom prst="rect">
            <a:avLst/>
          </a:prstGeom>
        </p:spPr>
      </p:pic>
    </p:spTree>
    <p:extLst>
      <p:ext uri="{BB962C8B-B14F-4D97-AF65-F5344CB8AC3E}">
        <p14:creationId xmlns:p14="http://schemas.microsoft.com/office/powerpoint/2010/main" val="3386973830"/>
      </p:ext>
    </p:extLst>
  </p:cSld>
  <p:clrMapOvr>
    <a:masterClrMapping/>
  </p:clrMapOvr>
  <mc:AlternateContent xmlns:mc="http://schemas.openxmlformats.org/markup-compatibility/2006" xmlns:p14="http://schemas.microsoft.com/office/powerpoint/2010/main">
    <mc:Choice Requires="p14">
      <p:transition spd="slow" p14:dur="2000" advTm="90437"/>
    </mc:Choice>
    <mc:Fallback xmlns="">
      <p:transition spd="slow" advTm="90437"/>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2100C-E326-330F-EB3C-5A9869EFE06C}"/>
              </a:ext>
            </a:extLst>
          </p:cNvPr>
          <p:cNvSpPr>
            <a:spLocks noGrp="1"/>
          </p:cNvSpPr>
          <p:nvPr>
            <p:ph type="title"/>
          </p:nvPr>
        </p:nvSpPr>
        <p:spPr/>
        <p:txBody>
          <a:bodyPr>
            <a:normAutofit/>
          </a:bodyPr>
          <a:lstStyle/>
          <a:p>
            <a:pPr algn="ctr"/>
            <a:r>
              <a:rPr lang="en-GB" sz="3200" dirty="0"/>
              <a:t>Platform effectiveness per marital status</a:t>
            </a:r>
          </a:p>
        </p:txBody>
      </p:sp>
      <p:pic>
        <p:nvPicPr>
          <p:cNvPr id="13" name="Picture 12">
            <a:extLst>
              <a:ext uri="{FF2B5EF4-FFF2-40B4-BE49-F238E27FC236}">
                <a16:creationId xmlns:a16="http://schemas.microsoft.com/office/drawing/2014/main" id="{7D62A624-10A7-CE1E-C295-77F49CB566EA}"/>
              </a:ext>
            </a:extLst>
          </p:cNvPr>
          <p:cNvPicPr>
            <a:picLocks noChangeAspect="1"/>
          </p:cNvPicPr>
          <p:nvPr/>
        </p:nvPicPr>
        <p:blipFill>
          <a:blip r:embed="rId3"/>
          <a:stretch>
            <a:fillRect/>
          </a:stretch>
        </p:blipFill>
        <p:spPr>
          <a:xfrm>
            <a:off x="8389223" y="1989543"/>
            <a:ext cx="2872335" cy="4060154"/>
          </a:xfrm>
          <a:prstGeom prst="rect">
            <a:avLst/>
          </a:prstGeom>
        </p:spPr>
      </p:pic>
      <p:graphicFrame>
        <p:nvGraphicFramePr>
          <p:cNvPr id="27" name="Chart 26">
            <a:extLst>
              <a:ext uri="{FF2B5EF4-FFF2-40B4-BE49-F238E27FC236}">
                <a16:creationId xmlns:a16="http://schemas.microsoft.com/office/drawing/2014/main" id="{7F23DA50-A6D1-6D84-9B83-4DDD9CACCF80}"/>
              </a:ext>
            </a:extLst>
          </p:cNvPr>
          <p:cNvGraphicFramePr>
            <a:graphicFrameLocks/>
          </p:cNvGraphicFramePr>
          <p:nvPr>
            <p:extLst>
              <p:ext uri="{D42A27DB-BD31-4B8C-83A1-F6EECF244321}">
                <p14:modId xmlns:p14="http://schemas.microsoft.com/office/powerpoint/2010/main" val="4159307108"/>
              </p:ext>
            </p:extLst>
          </p:nvPr>
        </p:nvGraphicFramePr>
        <p:xfrm>
          <a:off x="1129482" y="1568196"/>
          <a:ext cx="6053371" cy="437540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3" name="Chart 32">
            <a:extLst>
              <a:ext uri="{FF2B5EF4-FFF2-40B4-BE49-F238E27FC236}">
                <a16:creationId xmlns:a16="http://schemas.microsoft.com/office/drawing/2014/main" id="{9ACE5434-ADC0-6388-404F-59FD1F7E7D5A}"/>
              </a:ext>
            </a:extLst>
          </p:cNvPr>
          <p:cNvGraphicFramePr>
            <a:graphicFrameLocks/>
          </p:cNvGraphicFramePr>
          <p:nvPr>
            <p:extLst>
              <p:ext uri="{D42A27DB-BD31-4B8C-83A1-F6EECF244321}">
                <p14:modId xmlns:p14="http://schemas.microsoft.com/office/powerpoint/2010/main" val="3515681310"/>
              </p:ext>
            </p:extLst>
          </p:nvPr>
        </p:nvGraphicFramePr>
        <p:xfrm>
          <a:off x="800100" y="1768642"/>
          <a:ext cx="7489658" cy="4060154"/>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4012662706"/>
      </p:ext>
    </p:extLst>
  </p:cSld>
  <p:clrMapOvr>
    <a:masterClrMapping/>
  </p:clrMapOvr>
  <mc:AlternateContent xmlns:mc="http://schemas.openxmlformats.org/markup-compatibility/2006" xmlns:p14="http://schemas.microsoft.com/office/powerpoint/2010/main">
    <mc:Choice Requires="p14">
      <p:transition spd="slow" p14:dur="2000" advTm="34102"/>
    </mc:Choice>
    <mc:Fallback xmlns="">
      <p:transition spd="slow" advTm="34102"/>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9D5FB-BE61-40FE-F75C-CF02911231CA}"/>
              </a:ext>
            </a:extLst>
          </p:cNvPr>
          <p:cNvSpPr>
            <a:spLocks noGrp="1"/>
          </p:cNvSpPr>
          <p:nvPr>
            <p:ph type="title"/>
          </p:nvPr>
        </p:nvSpPr>
        <p:spPr/>
        <p:txBody>
          <a:bodyPr>
            <a:normAutofit/>
          </a:bodyPr>
          <a:lstStyle/>
          <a:p>
            <a:r>
              <a:rPr lang="en-GB" sz="3200" dirty="0"/>
              <a:t>Platform effectiveness per country</a:t>
            </a:r>
          </a:p>
        </p:txBody>
      </p:sp>
      <p:pic>
        <p:nvPicPr>
          <p:cNvPr id="9" name="Picture 8">
            <a:extLst>
              <a:ext uri="{FF2B5EF4-FFF2-40B4-BE49-F238E27FC236}">
                <a16:creationId xmlns:a16="http://schemas.microsoft.com/office/drawing/2014/main" id="{A0212277-0B58-033D-88D3-14E0557DE930}"/>
              </a:ext>
            </a:extLst>
          </p:cNvPr>
          <p:cNvPicPr>
            <a:picLocks noChangeAspect="1"/>
          </p:cNvPicPr>
          <p:nvPr/>
        </p:nvPicPr>
        <p:blipFill>
          <a:blip r:embed="rId3"/>
          <a:stretch>
            <a:fillRect/>
          </a:stretch>
        </p:blipFill>
        <p:spPr>
          <a:xfrm>
            <a:off x="8297253" y="914400"/>
            <a:ext cx="3002119" cy="5028548"/>
          </a:xfrm>
          <a:prstGeom prst="rect">
            <a:avLst/>
          </a:prstGeom>
        </p:spPr>
      </p:pic>
      <p:graphicFrame>
        <p:nvGraphicFramePr>
          <p:cNvPr id="10" name="Chart 9">
            <a:extLst>
              <a:ext uri="{FF2B5EF4-FFF2-40B4-BE49-F238E27FC236}">
                <a16:creationId xmlns:a16="http://schemas.microsoft.com/office/drawing/2014/main" id="{523D51CC-84F2-FAA8-F8A8-94852481FA5A}"/>
              </a:ext>
            </a:extLst>
          </p:cNvPr>
          <p:cNvGraphicFramePr>
            <a:graphicFrameLocks/>
          </p:cNvGraphicFramePr>
          <p:nvPr>
            <p:extLst>
              <p:ext uri="{D42A27DB-BD31-4B8C-83A1-F6EECF244321}">
                <p14:modId xmlns:p14="http://schemas.microsoft.com/office/powerpoint/2010/main" val="533775922"/>
              </p:ext>
            </p:extLst>
          </p:nvPr>
        </p:nvGraphicFramePr>
        <p:xfrm>
          <a:off x="892627" y="1732547"/>
          <a:ext cx="7132435" cy="394635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396954184"/>
      </p:ext>
    </p:extLst>
  </p:cSld>
  <p:clrMapOvr>
    <a:masterClrMapping/>
  </p:clrMapOvr>
  <mc:AlternateContent xmlns:mc="http://schemas.openxmlformats.org/markup-compatibility/2006" xmlns:p14="http://schemas.microsoft.com/office/powerpoint/2010/main">
    <mc:Choice Requires="p14">
      <p:transition spd="slow" p14:dur="2000" advTm="21271"/>
    </mc:Choice>
    <mc:Fallback xmlns="">
      <p:transition spd="slow" advTm="21271"/>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B8187-44A5-676F-AC79-070D8ACF8417}"/>
              </a:ext>
            </a:extLst>
          </p:cNvPr>
          <p:cNvSpPr>
            <a:spLocks noGrp="1"/>
          </p:cNvSpPr>
          <p:nvPr>
            <p:ph type="title"/>
          </p:nvPr>
        </p:nvSpPr>
        <p:spPr>
          <a:xfrm>
            <a:off x="700635" y="914400"/>
            <a:ext cx="10691265" cy="794084"/>
          </a:xfrm>
        </p:spPr>
        <p:txBody>
          <a:bodyPr>
            <a:normAutofit/>
          </a:bodyPr>
          <a:lstStyle/>
          <a:p>
            <a:pPr algn="ctr"/>
            <a:r>
              <a:rPr lang="en-GB" sz="3200" dirty="0"/>
              <a:t>Platform performance vs spending per country </a:t>
            </a:r>
          </a:p>
        </p:txBody>
      </p:sp>
      <p:pic>
        <p:nvPicPr>
          <p:cNvPr id="10" name="Picture 9">
            <a:extLst>
              <a:ext uri="{FF2B5EF4-FFF2-40B4-BE49-F238E27FC236}">
                <a16:creationId xmlns:a16="http://schemas.microsoft.com/office/drawing/2014/main" id="{29E04B9A-3676-8A4C-B3A5-4D146627B943}"/>
              </a:ext>
            </a:extLst>
          </p:cNvPr>
          <p:cNvPicPr>
            <a:picLocks noChangeAspect="1"/>
          </p:cNvPicPr>
          <p:nvPr/>
        </p:nvPicPr>
        <p:blipFill>
          <a:blip r:embed="rId3"/>
          <a:stretch>
            <a:fillRect/>
          </a:stretch>
        </p:blipFill>
        <p:spPr>
          <a:xfrm>
            <a:off x="6709612" y="2550694"/>
            <a:ext cx="4572000" cy="1978860"/>
          </a:xfrm>
          <a:prstGeom prst="rect">
            <a:avLst/>
          </a:prstGeom>
        </p:spPr>
      </p:pic>
      <p:graphicFrame>
        <p:nvGraphicFramePr>
          <p:cNvPr id="11" name="Chart 10">
            <a:extLst>
              <a:ext uri="{FF2B5EF4-FFF2-40B4-BE49-F238E27FC236}">
                <a16:creationId xmlns:a16="http://schemas.microsoft.com/office/drawing/2014/main" id="{13DA1102-3108-2E84-1F6A-32AD7C86F919}"/>
              </a:ext>
            </a:extLst>
          </p:cNvPr>
          <p:cNvGraphicFramePr>
            <a:graphicFrameLocks/>
          </p:cNvGraphicFramePr>
          <p:nvPr>
            <p:extLst>
              <p:ext uri="{D42A27DB-BD31-4B8C-83A1-F6EECF244321}">
                <p14:modId xmlns:p14="http://schemas.microsoft.com/office/powerpoint/2010/main" val="3892668616"/>
              </p:ext>
            </p:extLst>
          </p:nvPr>
        </p:nvGraphicFramePr>
        <p:xfrm>
          <a:off x="910389" y="2165684"/>
          <a:ext cx="5670886" cy="36576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202214181"/>
      </p:ext>
    </p:extLst>
  </p:cSld>
  <p:clrMapOvr>
    <a:masterClrMapping/>
  </p:clrMapOvr>
  <mc:AlternateContent xmlns:mc="http://schemas.openxmlformats.org/markup-compatibility/2006" xmlns:p14="http://schemas.microsoft.com/office/powerpoint/2010/main">
    <mc:Choice Requires="p14">
      <p:transition spd="slow" p14:dur="2000" advTm="28514"/>
    </mc:Choice>
    <mc:Fallback xmlns="">
      <p:transition spd="slow" advTm="28514"/>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4" name="Rectangle 23">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E67FD9-FCFB-3972-B6D5-7D2E41F0B6A1}"/>
              </a:ext>
            </a:extLst>
          </p:cNvPr>
          <p:cNvSpPr>
            <a:spLocks noGrp="1"/>
          </p:cNvSpPr>
          <p:nvPr>
            <p:ph type="title"/>
          </p:nvPr>
        </p:nvSpPr>
        <p:spPr>
          <a:xfrm>
            <a:off x="8138159" y="1177348"/>
            <a:ext cx="3330906" cy="3441068"/>
          </a:xfrm>
        </p:spPr>
        <p:txBody>
          <a:bodyPr vert="horz" lIns="91440" tIns="45720" rIns="91440" bIns="45720" rtlCol="0" anchor="t">
            <a:normAutofit/>
          </a:bodyPr>
          <a:lstStyle/>
          <a:p>
            <a:r>
              <a:rPr lang="en-US" sz="4200"/>
              <a:t>Insight summary </a:t>
            </a:r>
          </a:p>
        </p:txBody>
      </p:sp>
      <p:cxnSp>
        <p:nvCxnSpPr>
          <p:cNvPr id="26" name="Straight Connector 25">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7CC41EB-2D81-4303-9171-6401B388BA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885"/>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4" name="Content Placeholder 3">
            <a:extLst>
              <a:ext uri="{FF2B5EF4-FFF2-40B4-BE49-F238E27FC236}">
                <a16:creationId xmlns:a16="http://schemas.microsoft.com/office/drawing/2014/main" id="{10CFED44-1464-484B-03A5-0CA6176CB906}"/>
              </a:ext>
            </a:extLst>
          </p:cNvPr>
          <p:cNvGraphicFramePr>
            <a:graphicFrameLocks noGrp="1"/>
          </p:cNvGraphicFramePr>
          <p:nvPr>
            <p:ph idx="1"/>
            <p:extLst>
              <p:ext uri="{D42A27DB-BD31-4B8C-83A1-F6EECF244321}">
                <p14:modId xmlns:p14="http://schemas.microsoft.com/office/powerpoint/2010/main" val="4187505607"/>
              </p:ext>
            </p:extLst>
          </p:nvPr>
        </p:nvGraphicFramePr>
        <p:xfrm>
          <a:off x="722935" y="1223803"/>
          <a:ext cx="7179970" cy="4414356"/>
        </p:xfrm>
        <a:graphic>
          <a:graphicData uri="http://schemas.openxmlformats.org/drawingml/2006/table">
            <a:tbl>
              <a:tblPr>
                <a:solidFill>
                  <a:schemeClr val="bg1">
                    <a:lumMod val="95000"/>
                  </a:schemeClr>
                </a:solidFill>
              </a:tblPr>
              <a:tblGrid>
                <a:gridCol w="7179970">
                  <a:extLst>
                    <a:ext uri="{9D8B030D-6E8A-4147-A177-3AD203B41FA5}">
                      <a16:colId xmlns:a16="http://schemas.microsoft.com/office/drawing/2014/main" val="1738741125"/>
                    </a:ext>
                  </a:extLst>
                </a:gridCol>
              </a:tblGrid>
              <a:tr h="3525066">
                <a:tc>
                  <a:txBody>
                    <a:bodyPr/>
                    <a:lstStyle/>
                    <a:p>
                      <a:pPr marL="342900" indent="-342900" fontAlgn="t">
                        <a:lnSpc>
                          <a:spcPct val="100000"/>
                        </a:lnSpc>
                        <a:buFont typeface="Arial" panose="020B0604020202020204" pitchFamily="34" charset="0"/>
                        <a:buChar char="•"/>
                      </a:pPr>
                      <a:r>
                        <a:rPr lang="en-GB" sz="3000" b="0" i="0" cap="none" spc="0">
                          <a:solidFill>
                            <a:schemeClr val="tx1"/>
                          </a:solidFill>
                          <a:effectLst/>
                          <a:latin typeface="Segoe UI" panose="020B0502040204020203" pitchFamily="34" charset="0"/>
                        </a:rPr>
                        <a:t>Married, Together &amp; Single = highest reachable groups </a:t>
                      </a:r>
                    </a:p>
                    <a:p>
                      <a:pPr marL="342900" indent="-342900" fontAlgn="t">
                        <a:lnSpc>
                          <a:spcPct val="100000"/>
                        </a:lnSpc>
                        <a:buFont typeface="Arial" panose="020B0604020202020204" pitchFamily="34" charset="0"/>
                        <a:buChar char="•"/>
                      </a:pPr>
                      <a:r>
                        <a:rPr lang="en-GB" sz="3000" b="0" i="0" cap="none" spc="0">
                          <a:solidFill>
                            <a:schemeClr val="tx1"/>
                          </a:solidFill>
                          <a:effectLst/>
                          <a:latin typeface="Segoe UI" panose="020B0502040204020203" pitchFamily="34" charset="0"/>
                        </a:rPr>
                        <a:t>Spain, SA &amp; CA = strongest digital markets Digital exposure aligns with higher spending</a:t>
                      </a:r>
                    </a:p>
                    <a:p>
                      <a:pPr marL="342900" indent="-342900" fontAlgn="t">
                        <a:lnSpc>
                          <a:spcPct val="100000"/>
                        </a:lnSpc>
                        <a:buFont typeface="Arial" panose="020B0604020202020204" pitchFamily="34" charset="0"/>
                        <a:buChar char="•"/>
                      </a:pPr>
                      <a:r>
                        <a:rPr lang="en-GB" sz="3000" b="0" i="0" cap="none" spc="0">
                          <a:solidFill>
                            <a:schemeClr val="tx1"/>
                          </a:solidFill>
                          <a:effectLst/>
                          <a:latin typeface="Segoe UI" panose="020B0502040204020203" pitchFamily="34" charset="0"/>
                        </a:rPr>
                        <a:t>Low‑exposure regions (AUS, IND, US, ME) need a different approach</a:t>
                      </a:r>
                    </a:p>
                  </a:txBody>
                  <a:tcPr marL="115237" marR="164625" marT="32924" marB="246937">
                    <a:lnL w="12700"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784620035"/>
                  </a:ext>
                </a:extLst>
              </a:tr>
              <a:tr h="889290">
                <a:tc>
                  <a:txBody>
                    <a:bodyPr/>
                    <a:lstStyle/>
                    <a:p>
                      <a:pPr>
                        <a:lnSpc>
                          <a:spcPct val="100000"/>
                        </a:lnSpc>
                      </a:pPr>
                      <a:endParaRPr lang="en-GB" sz="3000" cap="none" spc="0">
                        <a:solidFill>
                          <a:schemeClr val="tx1"/>
                        </a:solidFill>
                      </a:endParaRPr>
                    </a:p>
                  </a:txBody>
                  <a:tcPr marL="115237" marR="164625" marT="32924" marB="246937">
                    <a:lnL w="12700" cap="flat" cmpd="sng" algn="ctr">
                      <a:solidFill>
                        <a:schemeClr val="tx1"/>
                      </a:solid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4031232170"/>
                  </a:ext>
                </a:extLst>
              </a:tr>
            </a:tbl>
          </a:graphicData>
        </a:graphic>
      </p:graphicFrame>
    </p:spTree>
    <p:extLst>
      <p:ext uri="{BB962C8B-B14F-4D97-AF65-F5344CB8AC3E}">
        <p14:creationId xmlns:p14="http://schemas.microsoft.com/office/powerpoint/2010/main" val="14106669"/>
      </p:ext>
    </p:extLst>
  </p:cSld>
  <p:clrMapOvr>
    <a:masterClrMapping/>
  </p:clrMapOvr>
  <mc:AlternateContent xmlns:mc="http://schemas.openxmlformats.org/markup-compatibility/2006" xmlns:p14="http://schemas.microsoft.com/office/powerpoint/2010/main">
    <mc:Choice Requires="p14">
      <p:transition spd="slow" p14:dur="2000" advTm="36607"/>
    </mc:Choice>
    <mc:Fallback xmlns="">
      <p:transition spd="slow" advTm="36607"/>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2" name="Rectangle 21">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EC3923-FC94-FBA2-C3DE-87CBB2FEFEAD}"/>
              </a:ext>
            </a:extLst>
          </p:cNvPr>
          <p:cNvSpPr>
            <a:spLocks noGrp="1"/>
          </p:cNvSpPr>
          <p:nvPr>
            <p:ph type="title"/>
          </p:nvPr>
        </p:nvSpPr>
        <p:spPr>
          <a:xfrm>
            <a:off x="8138159" y="1177348"/>
            <a:ext cx="3330906" cy="3441068"/>
          </a:xfrm>
        </p:spPr>
        <p:txBody>
          <a:bodyPr vert="horz" lIns="91440" tIns="45720" rIns="91440" bIns="45720" rtlCol="0" anchor="t">
            <a:normAutofit/>
          </a:bodyPr>
          <a:lstStyle/>
          <a:p>
            <a:r>
              <a:rPr lang="en-US" sz="3900"/>
              <a:t>Strategic implications </a:t>
            </a:r>
          </a:p>
        </p:txBody>
      </p:sp>
      <p:cxnSp>
        <p:nvCxnSpPr>
          <p:cNvPr id="24" name="Straight Connector 23">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7CC41EB-2D81-4303-9171-6401B388BA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885"/>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4" name="Content Placeholder 3">
            <a:extLst>
              <a:ext uri="{FF2B5EF4-FFF2-40B4-BE49-F238E27FC236}">
                <a16:creationId xmlns:a16="http://schemas.microsoft.com/office/drawing/2014/main" id="{C95234DC-99FB-B903-DDD3-C0393E521532}"/>
              </a:ext>
            </a:extLst>
          </p:cNvPr>
          <p:cNvGraphicFramePr>
            <a:graphicFrameLocks noGrp="1"/>
          </p:cNvGraphicFramePr>
          <p:nvPr>
            <p:ph idx="1"/>
            <p:extLst>
              <p:ext uri="{D42A27DB-BD31-4B8C-83A1-F6EECF244321}">
                <p14:modId xmlns:p14="http://schemas.microsoft.com/office/powerpoint/2010/main" val="2403081660"/>
              </p:ext>
            </p:extLst>
          </p:nvPr>
        </p:nvGraphicFramePr>
        <p:xfrm>
          <a:off x="746454" y="1367811"/>
          <a:ext cx="7132933" cy="4126340"/>
        </p:xfrm>
        <a:graphic>
          <a:graphicData uri="http://schemas.openxmlformats.org/drawingml/2006/table">
            <a:tbl>
              <a:tblPr/>
              <a:tblGrid>
                <a:gridCol w="7132933">
                  <a:extLst>
                    <a:ext uri="{9D8B030D-6E8A-4147-A177-3AD203B41FA5}">
                      <a16:colId xmlns:a16="http://schemas.microsoft.com/office/drawing/2014/main" val="2180778465"/>
                    </a:ext>
                  </a:extLst>
                </a:gridCol>
              </a:tblGrid>
              <a:tr h="3258204">
                <a:tc>
                  <a:txBody>
                    <a:bodyPr/>
                    <a:lstStyle/>
                    <a:p>
                      <a:pPr marL="457200" indent="-457200" algn="l" fontAlgn="t">
                        <a:lnSpc>
                          <a:spcPct val="100000"/>
                        </a:lnSpc>
                        <a:buFont typeface="Arial" panose="020B0604020202020204" pitchFamily="34" charset="0"/>
                        <a:buChar char="•"/>
                      </a:pPr>
                      <a:r>
                        <a:rPr lang="en-GB" sz="3300" b="0" i="0" u="none" strike="noStrike">
                          <a:effectLst/>
                          <a:latin typeface="Segoe UI" panose="020B0502040204020203" pitchFamily="34" charset="0"/>
                        </a:rPr>
                        <a:t>Prioritise high‑exposure regions </a:t>
                      </a:r>
                    </a:p>
                    <a:p>
                      <a:pPr marL="457200" indent="-457200" algn="l" fontAlgn="t">
                        <a:lnSpc>
                          <a:spcPct val="100000"/>
                        </a:lnSpc>
                        <a:buFont typeface="Arial" panose="020B0604020202020204" pitchFamily="34" charset="0"/>
                        <a:buChar char="•"/>
                      </a:pPr>
                      <a:r>
                        <a:rPr lang="en-GB" sz="3300" b="0" i="0" u="none" strike="noStrike">
                          <a:effectLst/>
                          <a:latin typeface="Segoe UI" panose="020B0502040204020203" pitchFamily="34" charset="0"/>
                        </a:rPr>
                        <a:t>Strengthen digital investment </a:t>
                      </a:r>
                    </a:p>
                    <a:p>
                      <a:pPr marL="457200" indent="-457200" algn="l" fontAlgn="t">
                        <a:lnSpc>
                          <a:spcPct val="100000"/>
                        </a:lnSpc>
                        <a:buFont typeface="Arial" panose="020B0604020202020204" pitchFamily="34" charset="0"/>
                        <a:buChar char="•"/>
                      </a:pPr>
                      <a:r>
                        <a:rPr lang="en-GB" sz="3300" b="0" i="0" u="none" strike="noStrike">
                          <a:effectLst/>
                          <a:latin typeface="Segoe UI" panose="020B0502040204020203" pitchFamily="34" charset="0"/>
                        </a:rPr>
                        <a:t>Tailor campaigns for top marital segments </a:t>
                      </a:r>
                    </a:p>
                    <a:p>
                      <a:pPr marL="457200" indent="-457200" algn="l" fontAlgn="t">
                        <a:lnSpc>
                          <a:spcPct val="100000"/>
                        </a:lnSpc>
                        <a:buFont typeface="Arial" panose="020B0604020202020204" pitchFamily="34" charset="0"/>
                        <a:buChar char="•"/>
                      </a:pPr>
                      <a:r>
                        <a:rPr lang="en-GB" sz="3300" b="0" i="0" u="none" strike="noStrike">
                          <a:effectLst/>
                          <a:latin typeface="Segoe UI" panose="020B0502040204020203" pitchFamily="34" charset="0"/>
                        </a:rPr>
                        <a:t>Review strategy for low‑reach markets</a:t>
                      </a:r>
                      <a:endParaRPr lang="en-GB" sz="3300" b="0" i="0" u="none" strike="noStrike">
                        <a:effectLst/>
                        <a:latin typeface="Arial" panose="020B0604020202020204" pitchFamily="34" charset="0"/>
                      </a:endParaRPr>
                    </a:p>
                  </a:txBody>
                  <a:tcPr marL="197576" marR="197576" marT="98788" marB="98788">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4116836831"/>
                  </a:ext>
                </a:extLst>
              </a:tr>
              <a:tr h="868136">
                <a:tc>
                  <a:txBody>
                    <a:bodyPr/>
                    <a:lstStyle/>
                    <a:p>
                      <a:pPr algn="l" fontAlgn="t">
                        <a:lnSpc>
                          <a:spcPct val="100000"/>
                        </a:lnSpc>
                        <a:buNone/>
                      </a:pPr>
                      <a:endParaRPr lang="en-US" sz="3300" b="0" i="0" u="none" strike="noStrike">
                        <a:effectLst/>
                        <a:latin typeface="Arial" panose="020B0604020202020204" pitchFamily="34" charset="0"/>
                      </a:endParaRPr>
                    </a:p>
                  </a:txBody>
                  <a:tcPr marL="197576" marR="197576" marT="98788" marB="98788">
                    <a:lnL>
                      <a:noFill/>
                    </a:lnL>
                    <a:lnR>
                      <a:noFill/>
                    </a:lnR>
                    <a:lnT w="6350" cap="flat" cmpd="sng" algn="ctr">
                      <a:solidFill>
                        <a:srgbClr val="E6E6E6"/>
                      </a:solidFill>
                      <a:prstDash val="solid"/>
                      <a:round/>
                      <a:headEnd type="none" w="med" len="med"/>
                      <a:tailEnd type="none" w="med" len="med"/>
                    </a:lnT>
                    <a:lnB>
                      <a:noFill/>
                    </a:lnB>
                    <a:noFill/>
                  </a:tcPr>
                </a:tc>
                <a:extLst>
                  <a:ext uri="{0D108BD9-81ED-4DB2-BD59-A6C34878D82A}">
                    <a16:rowId xmlns:a16="http://schemas.microsoft.com/office/drawing/2014/main" val="3563198522"/>
                  </a:ext>
                </a:extLst>
              </a:tr>
            </a:tbl>
          </a:graphicData>
        </a:graphic>
      </p:graphicFrame>
    </p:spTree>
    <p:extLst>
      <p:ext uri="{BB962C8B-B14F-4D97-AF65-F5344CB8AC3E}">
        <p14:creationId xmlns:p14="http://schemas.microsoft.com/office/powerpoint/2010/main" val="2817360165"/>
      </p:ext>
    </p:extLst>
  </p:cSld>
  <p:clrMapOvr>
    <a:masterClrMapping/>
  </p:clrMapOvr>
  <mc:AlternateContent xmlns:mc="http://schemas.openxmlformats.org/markup-compatibility/2006" xmlns:p14="http://schemas.microsoft.com/office/powerpoint/2010/main">
    <mc:Choice Requires="p14">
      <p:transition spd="slow" p14:dur="2000" advTm="18651"/>
    </mc:Choice>
    <mc:Fallback xmlns="">
      <p:transition spd="slow" advTm="18651"/>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5" name="Straight Connector 24">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8" name="Rectangle 27">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C80547-FF3F-581C-1751-6DD161CC74DD}"/>
              </a:ext>
            </a:extLst>
          </p:cNvPr>
          <p:cNvSpPr>
            <a:spLocks noGrp="1"/>
          </p:cNvSpPr>
          <p:nvPr>
            <p:ph type="title"/>
          </p:nvPr>
        </p:nvSpPr>
        <p:spPr>
          <a:xfrm>
            <a:off x="8138159" y="1177348"/>
            <a:ext cx="3330906" cy="3441068"/>
          </a:xfrm>
        </p:spPr>
        <p:txBody>
          <a:bodyPr vert="horz" lIns="91440" tIns="45720" rIns="91440" bIns="45720" rtlCol="0" anchor="t">
            <a:normAutofit/>
          </a:bodyPr>
          <a:lstStyle/>
          <a:p>
            <a:r>
              <a:rPr lang="en-US" sz="2600"/>
              <a:t>Recommendations</a:t>
            </a:r>
          </a:p>
        </p:txBody>
      </p:sp>
      <p:cxnSp>
        <p:nvCxnSpPr>
          <p:cNvPr id="24" name="Straight Connector 23">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7CC41EB-2D81-4303-9171-6401B388BA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885"/>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4" name="Content Placeholder 3">
            <a:extLst>
              <a:ext uri="{FF2B5EF4-FFF2-40B4-BE49-F238E27FC236}">
                <a16:creationId xmlns:a16="http://schemas.microsoft.com/office/drawing/2014/main" id="{879BB0D8-B219-5733-C564-9E677FD86B4F}"/>
              </a:ext>
            </a:extLst>
          </p:cNvPr>
          <p:cNvGraphicFramePr>
            <a:graphicFrameLocks noGrp="1"/>
          </p:cNvGraphicFramePr>
          <p:nvPr>
            <p:ph idx="1"/>
            <p:extLst>
              <p:ext uri="{D42A27DB-BD31-4B8C-83A1-F6EECF244321}">
                <p14:modId xmlns:p14="http://schemas.microsoft.com/office/powerpoint/2010/main" val="4110155819"/>
              </p:ext>
            </p:extLst>
          </p:nvPr>
        </p:nvGraphicFramePr>
        <p:xfrm>
          <a:off x="722935" y="1916333"/>
          <a:ext cx="7179970" cy="3350380"/>
        </p:xfrm>
        <a:graphic>
          <a:graphicData uri="http://schemas.openxmlformats.org/drawingml/2006/table">
            <a:tbl>
              <a:tblPr>
                <a:noFill/>
              </a:tblPr>
              <a:tblGrid>
                <a:gridCol w="7179970">
                  <a:extLst>
                    <a:ext uri="{9D8B030D-6E8A-4147-A177-3AD203B41FA5}">
                      <a16:colId xmlns:a16="http://schemas.microsoft.com/office/drawing/2014/main" val="2959452032"/>
                    </a:ext>
                  </a:extLst>
                </a:gridCol>
              </a:tblGrid>
              <a:tr h="2521568">
                <a:tc>
                  <a:txBody>
                    <a:bodyPr/>
                    <a:lstStyle/>
                    <a:p>
                      <a:pPr marL="342900" indent="-342900" fontAlgn="t">
                        <a:lnSpc>
                          <a:spcPct val="150000"/>
                        </a:lnSpc>
                        <a:buFont typeface="Arial" panose="020B0604020202020204" pitchFamily="34" charset="0"/>
                        <a:buChar char="•"/>
                      </a:pPr>
                      <a:r>
                        <a:rPr lang="en-GB" sz="2000" b="0" i="0" cap="none" spc="0" dirty="0">
                          <a:solidFill>
                            <a:schemeClr val="tx1"/>
                          </a:solidFill>
                          <a:effectLst/>
                          <a:latin typeface="Segoe UI" panose="020B0502040204020203" pitchFamily="34" charset="0"/>
                        </a:rPr>
                        <a:t>Increase digital ad budget (Twitter, Instagram, Facebook) </a:t>
                      </a:r>
                    </a:p>
                    <a:p>
                      <a:pPr marL="342900" indent="-342900" fontAlgn="t">
                        <a:lnSpc>
                          <a:spcPct val="150000"/>
                        </a:lnSpc>
                        <a:buFont typeface="Arial" panose="020B0604020202020204" pitchFamily="34" charset="0"/>
                        <a:buChar char="•"/>
                      </a:pPr>
                      <a:r>
                        <a:rPr lang="en-GB" sz="2000" b="0" i="0" cap="none" spc="0" dirty="0">
                          <a:solidFill>
                            <a:schemeClr val="tx1"/>
                          </a:solidFill>
                          <a:effectLst/>
                          <a:latin typeface="Segoe UI" panose="020B0502040204020203" pitchFamily="34" charset="0"/>
                        </a:rPr>
                        <a:t>Reduce brochures (very low performance) </a:t>
                      </a:r>
                    </a:p>
                    <a:p>
                      <a:pPr marL="342900" indent="-342900" fontAlgn="t">
                        <a:lnSpc>
                          <a:spcPct val="150000"/>
                        </a:lnSpc>
                        <a:buFont typeface="Arial" panose="020B0604020202020204" pitchFamily="34" charset="0"/>
                        <a:buChar char="•"/>
                      </a:pPr>
                      <a:r>
                        <a:rPr lang="en-GB" sz="2000" b="0" i="0" cap="none" spc="0" dirty="0">
                          <a:solidFill>
                            <a:schemeClr val="tx1"/>
                          </a:solidFill>
                          <a:effectLst/>
                          <a:latin typeface="Segoe UI" panose="020B0502040204020203" pitchFamily="34" charset="0"/>
                        </a:rPr>
                        <a:t>Personalise campaigns by marital status &amp; country </a:t>
                      </a:r>
                    </a:p>
                    <a:p>
                      <a:pPr marL="342900" indent="-342900" fontAlgn="t">
                        <a:lnSpc>
                          <a:spcPct val="150000"/>
                        </a:lnSpc>
                        <a:buFont typeface="Arial" panose="020B0604020202020204" pitchFamily="34" charset="0"/>
                        <a:buChar char="•"/>
                      </a:pPr>
                      <a:r>
                        <a:rPr lang="en-GB" sz="2000" b="0" i="0" cap="none" spc="0" dirty="0">
                          <a:solidFill>
                            <a:schemeClr val="tx1"/>
                          </a:solidFill>
                          <a:effectLst/>
                          <a:latin typeface="Segoe UI" panose="020B0502040204020203" pitchFamily="34" charset="0"/>
                        </a:rPr>
                        <a:t>Improve visibility in AUS, IND, US &amp; ME Use A/B testing to optimise campaigns</a:t>
                      </a:r>
                    </a:p>
                    <a:p>
                      <a:pPr marL="342900" indent="-342900" fontAlgn="t">
                        <a:lnSpc>
                          <a:spcPct val="150000"/>
                        </a:lnSpc>
                        <a:buFont typeface="Arial" panose="020B0604020202020204" pitchFamily="34" charset="0"/>
                        <a:buChar char="•"/>
                      </a:pPr>
                      <a:endParaRPr lang="en-GB" sz="1700" b="0" i="0" cap="none" spc="0" dirty="0">
                        <a:solidFill>
                          <a:schemeClr val="tx1"/>
                        </a:solidFill>
                        <a:effectLst/>
                        <a:latin typeface="Segoe UI" panose="020B0502040204020203" pitchFamily="34" charset="0"/>
                      </a:endParaRPr>
                    </a:p>
                  </a:txBody>
                  <a:tcPr marL="0" marR="219613" marT="38400" marB="127998">
                    <a:lnL w="12700" cmpd="sng">
                      <a:noFill/>
                      <a:prstDash val="solid"/>
                    </a:lnL>
                    <a:lnR w="12700" cmpd="sng">
                      <a:noFill/>
                      <a:prstDash val="solid"/>
                    </a:lnR>
                    <a:lnT w="9525" cap="flat" cmpd="sng" algn="ctr">
                      <a:solidFill>
                        <a:schemeClr val="tx1"/>
                      </a:solidFill>
                      <a:prstDash val="solid"/>
                    </a:lnT>
                    <a:lnB w="12700" cmpd="sng">
                      <a:noFill/>
                      <a:prstDash val="solid"/>
                    </a:lnB>
                    <a:noFill/>
                  </a:tcPr>
                </a:tc>
                <a:extLst>
                  <a:ext uri="{0D108BD9-81ED-4DB2-BD59-A6C34878D82A}">
                    <a16:rowId xmlns:a16="http://schemas.microsoft.com/office/drawing/2014/main" val="707653903"/>
                  </a:ext>
                </a:extLst>
              </a:tr>
              <a:tr h="507727">
                <a:tc>
                  <a:txBody>
                    <a:bodyPr/>
                    <a:lstStyle/>
                    <a:p>
                      <a:pPr>
                        <a:lnSpc>
                          <a:spcPct val="150000"/>
                        </a:lnSpc>
                      </a:pPr>
                      <a:endParaRPr lang="en-GB" sz="1700" cap="none" spc="0" dirty="0">
                        <a:solidFill>
                          <a:schemeClr val="tx1"/>
                        </a:solidFill>
                      </a:endParaRPr>
                    </a:p>
                  </a:txBody>
                  <a:tcPr marL="0" marR="219613" marT="38400" marB="127998">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732068525"/>
                  </a:ext>
                </a:extLst>
              </a:tr>
            </a:tbl>
          </a:graphicData>
        </a:graphic>
      </p:graphicFrame>
    </p:spTree>
    <p:extLst>
      <p:ext uri="{BB962C8B-B14F-4D97-AF65-F5344CB8AC3E}">
        <p14:creationId xmlns:p14="http://schemas.microsoft.com/office/powerpoint/2010/main" val="224887504"/>
      </p:ext>
    </p:extLst>
  </p:cSld>
  <p:clrMapOvr>
    <a:masterClrMapping/>
  </p:clrMapOvr>
  <mc:AlternateContent xmlns:mc="http://schemas.openxmlformats.org/markup-compatibility/2006" xmlns:p14="http://schemas.microsoft.com/office/powerpoint/2010/main">
    <mc:Choice Requires="p14">
      <p:transition spd="slow" p14:dur="2000" advTm="25521"/>
    </mc:Choice>
    <mc:Fallback xmlns="">
      <p:transition spd="slow" advTm="25521"/>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5E2F3-C00B-BA6B-3D53-AE1469EACA3E}"/>
              </a:ext>
            </a:extLst>
          </p:cNvPr>
          <p:cNvSpPr>
            <a:spLocks noGrp="1"/>
          </p:cNvSpPr>
          <p:nvPr>
            <p:ph type="title"/>
          </p:nvPr>
        </p:nvSpPr>
        <p:spPr/>
        <p:txBody>
          <a:bodyPr/>
          <a:lstStyle/>
          <a:p>
            <a:r>
              <a:rPr lang="en-GB" dirty="0"/>
              <a:t>Conclusion </a:t>
            </a:r>
          </a:p>
        </p:txBody>
      </p:sp>
      <p:graphicFrame>
        <p:nvGraphicFramePr>
          <p:cNvPr id="5" name="Content Placeholder 4">
            <a:extLst>
              <a:ext uri="{FF2B5EF4-FFF2-40B4-BE49-F238E27FC236}">
                <a16:creationId xmlns:a16="http://schemas.microsoft.com/office/drawing/2014/main" id="{3C539AAE-0E15-376B-502C-10858CDF365A}"/>
              </a:ext>
            </a:extLst>
          </p:cNvPr>
          <p:cNvGraphicFramePr>
            <a:graphicFrameLocks noGrp="1"/>
          </p:cNvGraphicFramePr>
          <p:nvPr>
            <p:ph idx="1"/>
            <p:extLst>
              <p:ext uri="{D42A27DB-BD31-4B8C-83A1-F6EECF244321}">
                <p14:modId xmlns:p14="http://schemas.microsoft.com/office/powerpoint/2010/main" val="3166833153"/>
              </p:ext>
            </p:extLst>
          </p:nvPr>
        </p:nvGraphicFramePr>
        <p:xfrm>
          <a:off x="700088" y="3758247"/>
          <a:ext cx="10691812" cy="1463040"/>
        </p:xfrm>
        <a:graphic>
          <a:graphicData uri="http://schemas.openxmlformats.org/drawingml/2006/table">
            <a:tbl>
              <a:tblPr/>
              <a:tblGrid>
                <a:gridCol w="10691812">
                  <a:extLst>
                    <a:ext uri="{9D8B030D-6E8A-4147-A177-3AD203B41FA5}">
                      <a16:colId xmlns:a16="http://schemas.microsoft.com/office/drawing/2014/main" val="732019427"/>
                    </a:ext>
                  </a:extLst>
                </a:gridCol>
              </a:tblGrid>
              <a:tr h="0">
                <a:tc>
                  <a:txBody>
                    <a:bodyPr/>
                    <a:lstStyle/>
                    <a:p>
                      <a:pPr fontAlgn="t">
                        <a:lnSpc>
                          <a:spcPct val="100000"/>
                        </a:lnSpc>
                        <a:buNone/>
                      </a:pPr>
                      <a:r>
                        <a:rPr lang="en-GB" sz="2800" b="0" i="0">
                          <a:effectLst/>
                          <a:latin typeface="Segoe UI" panose="020B0502040204020203" pitchFamily="34" charset="0"/>
                        </a:rPr>
                        <a:t>Data → Insight → Smarter decisions Target key segments Invest where impact is greatest</a:t>
                      </a:r>
                    </a:p>
                  </a:txBody>
                  <a:tcP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2695126600"/>
                  </a:ext>
                </a:extLst>
              </a:tr>
              <a:tr h="0">
                <a:tc>
                  <a:txBody>
                    <a:bodyPr/>
                    <a:lstStyle/>
                    <a:p>
                      <a:pPr>
                        <a:lnSpc>
                          <a:spcPct val="100000"/>
                        </a:lnSpc>
                      </a:pPr>
                      <a:endParaRPr lang="en-GB" sz="2800" dirty="0"/>
                    </a:p>
                  </a:txBody>
                  <a:tcPr>
                    <a:lnT w="6350" cap="flat" cmpd="sng" algn="ctr">
                      <a:solidFill>
                        <a:srgbClr val="E6E6E6"/>
                      </a:solidFill>
                      <a:prstDash val="solid"/>
                      <a:round/>
                      <a:headEnd type="none" w="med" len="med"/>
                      <a:tailEnd type="none" w="med" len="med"/>
                    </a:lnT>
                  </a:tcPr>
                </a:tc>
                <a:extLst>
                  <a:ext uri="{0D108BD9-81ED-4DB2-BD59-A6C34878D82A}">
                    <a16:rowId xmlns:a16="http://schemas.microsoft.com/office/drawing/2014/main" val="1264890194"/>
                  </a:ext>
                </a:extLst>
              </a:tr>
            </a:tbl>
          </a:graphicData>
        </a:graphic>
      </p:graphicFrame>
    </p:spTree>
    <p:extLst>
      <p:ext uri="{BB962C8B-B14F-4D97-AF65-F5344CB8AC3E}">
        <p14:creationId xmlns:p14="http://schemas.microsoft.com/office/powerpoint/2010/main" val="1204374572"/>
      </p:ext>
    </p:extLst>
  </p:cSld>
  <p:clrMapOvr>
    <a:masterClrMapping/>
  </p:clrMapOvr>
  <mc:AlternateContent xmlns:mc="http://schemas.openxmlformats.org/markup-compatibility/2006" xmlns:p14="http://schemas.microsoft.com/office/powerpoint/2010/main">
    <mc:Choice Requires="p14">
      <p:transition spd="slow" p14:dur="2000" advTm="17804"/>
    </mc:Choice>
    <mc:Fallback xmlns="">
      <p:transition spd="slow" advTm="17804"/>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A6E3D-785F-D7ED-7017-9512299C5274}"/>
              </a:ext>
            </a:extLst>
          </p:cNvPr>
          <p:cNvSpPr>
            <a:spLocks noGrp="1"/>
          </p:cNvSpPr>
          <p:nvPr>
            <p:ph type="title"/>
          </p:nvPr>
        </p:nvSpPr>
        <p:spPr/>
        <p:txBody>
          <a:bodyPr/>
          <a:lstStyle/>
          <a:p>
            <a:r>
              <a:rPr lang="en-GB" dirty="0"/>
              <a:t>Q &amp; A</a:t>
            </a:r>
          </a:p>
        </p:txBody>
      </p:sp>
      <p:sp>
        <p:nvSpPr>
          <p:cNvPr id="3" name="Content Placeholder 2">
            <a:extLst>
              <a:ext uri="{FF2B5EF4-FFF2-40B4-BE49-F238E27FC236}">
                <a16:creationId xmlns:a16="http://schemas.microsoft.com/office/drawing/2014/main" id="{9B0C7842-9A43-252E-9977-29BD676B0062}"/>
              </a:ext>
            </a:extLst>
          </p:cNvPr>
          <p:cNvSpPr>
            <a:spLocks noGrp="1"/>
          </p:cNvSpPr>
          <p:nvPr>
            <p:ph idx="1"/>
          </p:nvPr>
        </p:nvSpPr>
        <p:spPr/>
        <p:txBody>
          <a:bodyPr>
            <a:normAutofit/>
          </a:bodyPr>
          <a:lstStyle/>
          <a:p>
            <a:pPr marL="0" indent="0" algn="ctr">
              <a:buNone/>
            </a:pPr>
            <a:r>
              <a:rPr lang="en-GB" sz="3600" dirty="0"/>
              <a:t>Thank you </a:t>
            </a:r>
          </a:p>
          <a:p>
            <a:pPr marL="0" indent="0" algn="ctr">
              <a:buNone/>
            </a:pPr>
            <a:r>
              <a:rPr lang="en-GB" sz="3600" dirty="0"/>
              <a:t>Any Questions?</a:t>
            </a:r>
          </a:p>
        </p:txBody>
      </p:sp>
    </p:spTree>
    <p:extLst>
      <p:ext uri="{BB962C8B-B14F-4D97-AF65-F5344CB8AC3E}">
        <p14:creationId xmlns:p14="http://schemas.microsoft.com/office/powerpoint/2010/main" val="1711486960"/>
      </p:ext>
    </p:extLst>
  </p:cSld>
  <p:clrMapOvr>
    <a:masterClrMapping/>
  </p:clrMapOvr>
  <mc:AlternateContent xmlns:mc="http://schemas.openxmlformats.org/markup-compatibility/2006" xmlns:p14="http://schemas.microsoft.com/office/powerpoint/2010/main">
    <mc:Choice Requires="p14">
      <p:transition spd="slow" p14:dur="2000" advTm="7992"/>
    </mc:Choice>
    <mc:Fallback xmlns="">
      <p:transition spd="slow" advTm="7992"/>
    </mc:Fallback>
  </mc:AlternateContent>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2754</TotalTime>
  <Words>1234</Words>
  <Application>Microsoft Office PowerPoint</Application>
  <PresentationFormat>Widescreen</PresentationFormat>
  <Paragraphs>136</Paragraphs>
  <Slides>16</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Arial</vt:lpstr>
      <vt:lpstr>Calisto MT</vt:lpstr>
      <vt:lpstr>Segoe UI</vt:lpstr>
      <vt:lpstr>Univers Condensed</vt:lpstr>
      <vt:lpstr>ChronicleVTI</vt:lpstr>
      <vt:lpstr>2Market Customer Insights &amp; Marketing strategy   </vt:lpstr>
      <vt:lpstr>Business problem &amp; strategic objective</vt:lpstr>
      <vt:lpstr>IDEAL - PROBLEM Solving FRAMEWORK </vt:lpstr>
      <vt:lpstr>Data Preparation &amp; SQL Process</vt:lpstr>
      <vt:lpstr>CUSTOMER DEMOGRAPHICS</vt:lpstr>
      <vt:lpstr>PowerPoint Presentation</vt:lpstr>
      <vt:lpstr>PowerPoint Presentation</vt:lpstr>
      <vt:lpstr>PowerPoint Presentation</vt:lpstr>
      <vt:lpstr>Platform effectiveness per marital status</vt:lpstr>
      <vt:lpstr>Platform effectiveness per country</vt:lpstr>
      <vt:lpstr>Platform performance vs spending per country </vt:lpstr>
      <vt:lpstr>Insight summary </vt:lpstr>
      <vt:lpstr>Strategic implications </vt:lpstr>
      <vt:lpstr>Recommendations</vt:lpstr>
      <vt:lpstr>Conclusion </vt:lpstr>
      <vt:lpstr>Q &amp; 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Saadia Adnan</dc:creator>
  <cp:lastModifiedBy>Saadia Adnan</cp:lastModifiedBy>
  <cp:revision>7</cp:revision>
  <dcterms:created xsi:type="dcterms:W3CDTF">2026-04-04T17:33:56Z</dcterms:created>
  <dcterms:modified xsi:type="dcterms:W3CDTF">2026-04-06T23:06:48Z</dcterms:modified>
</cp:coreProperties>
</file>